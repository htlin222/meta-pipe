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1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最低</c:v>
                </c:pt>
              </c:strCache>
            </c:strRef>
          </c:tx>
          <c:spPr>
            <a:solidFill>
              <a:srgbClr val="1C7C8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263238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01 計畫</c:v>
                  </c:pt>
                  <c:pt idx="1">
                    <c:v>02 搜尋</c:v>
                  </c:pt>
                  <c:pt idx="2">
                    <c:v>03 篩選</c:v>
                  </c:pt>
                  <c:pt idx="3">
                    <c:v>04 全文</c:v>
                  </c:pt>
                  <c:pt idx="4">
                    <c:v>05 萃取</c:v>
                  </c:pt>
                  <c:pt idx="5">
                    <c:v>06 分析</c:v>
                  </c:pt>
                  <c:pt idx="6">
                    <c:v>07 手稿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2</c:v>
                </c:pt>
                <c:pt idx="4">
                  <c:v>4</c:v>
                </c:pt>
                <c:pt idx="5">
                  <c:v>4</c:v>
                </c:pt>
                <c:pt idx="6">
                  <c:v>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最高</c:v>
                </c:pt>
              </c:strCache>
            </c:strRef>
          </c:tx>
          <c:spPr>
            <a:solidFill>
              <a:srgbClr val="0B2E3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263238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01 計畫</c:v>
                  </c:pt>
                  <c:pt idx="1">
                    <c:v>02 搜尋</c:v>
                  </c:pt>
                  <c:pt idx="2">
                    <c:v>03 篩選</c:v>
                  </c:pt>
                  <c:pt idx="3">
                    <c:v>04 全文</c:v>
                  </c:pt>
                  <c:pt idx="4">
                    <c:v>05 萃取</c:v>
                  </c:pt>
                  <c:pt idx="5">
                    <c:v>06 分析</c:v>
                  </c:pt>
                  <c:pt idx="6">
                    <c:v>07 手稿</c:v>
                  </c:pt>
                </c:lvl>
              </c:multiLvlStrCache>
            </c:multiLvl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2</c:v>
                </c:pt>
                <c:pt idx="1">
                  <c:v>3</c:v>
                </c:pt>
                <c:pt idx="2">
                  <c:v>4</c:v>
                </c:pt>
                <c:pt idx="3">
                  <c:v>4</c:v>
                </c:pt>
                <c:pt idx="4">
                  <c:v>6</c:v>
                </c:pt>
                <c:pt idx="5">
                  <c:v>5</c:v>
                </c:pt>
                <c:pt idx="6">
                  <c:v>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263238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263238"/>
                </a:solidFill>
                <a:latin typeface="Microsoft JhengHe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9"/>
          <c:min val="0"/>
        </c:scaling>
        <c:delete val="0"/>
        <c:axPos val="l"/>
        <c:majorGridlines>
          <c:spPr>
            <a:ln w="6350" cap="flat">
              <a:solidFill>
                <a:srgbClr val="E5EC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C7E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2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6B7C7E"/>
              </a:solidFill>
              <a:latin typeface="Microsoft JhengHei"/>
              <a:cs typeface="Microsoft JhengHe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開場：meta-pipe 是一套以 Claude Code 驅動的 meta-analysis 流水線。輸入是一個 TOPIC.txt，輸出是可以投稿的手稿。下方 11 個階段（00–10）就是今天要走過的主線。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痛點三件事：重複勞動、報告規範、可重現性。右側對比：傳統 100+ 小時 vs 範例專案約 14 小時。提醒觀眾 14 小時是最順利的案例，一般預期 22–32 小時。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三根支柱：Skills 驅動（行為寫在 SKILL.md 裡，可版本控制）、可重現工具鏈（uv / renv / Quarto、round 制）、品質閘門（數字化門檻）。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四個區塊：Foundation（00–02，循序）、Screening（03–04，雙人篩選可平行）、Processing（05–06，循序）、Synthesis（07–10，手稿與 QA 可平行）。每個階段旁邊是它的代表輸出檔。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重點是「可行性評估」這個強制閘門：用 4 小時換取不浪費 10–40 小時。資料庫最低要求 PubMed + Scopus。分析類型在此只是初步判定，要等篩選完才確認。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左：雙人 AI 篩選流程，kappa ≥ 0.60 才能過。右：NMA 候選專案在此決定是走 NMA 還是降級為 pairwise。這是整條流水線最重要的方法學決策點之一。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萃取採「LLM 先做、人再複核」。步驟 3 反白，強調人工複核是必要環節，不可省略。數字來自範例專案經驗。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由 pico.yaml 的 analysis_type.confirmed 決定走哪條路。pairwise 走 R 01–12；NMA 走 nma_01–13，包含 transitivity 統計檢定。所有結果用 renv 鎖版本。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07 有一個「大綱先核准」的閘門。09 的重點是把主觀的「準備好了嗎」變成 0–100% 的客觀分數，以及自動抓過度宣稱。10 的品質精修可把接受率再拉高約 10%。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這頁是整個 workflow 的「憲法」。每個轉換點都有可量化的門檻，validate_stage_transition.py 會產出 09_qa/stage_transition_report.md。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這是 repo 裡唯一被 git 追蹤的完整專案。主要結局 pCR：RR 1.26、I² = 0%、NNT 7。所有階段檔案都在，可直接當範本。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長條是各階段的時間區間（最低/最高）。總計 22–32 小時。05 若用 LLM 萃取可明顯縮短。手稿是最大宗，所以用大綱核准來防止返工。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實驗性功能，需 Claude Code v2.1.32+ 並開啟 CLAUDE_CODE_EXPERIMENTAL_AGENT_TEAMS。核心是「目錄所有權」與「篩選者隔離」。適合 ≥5 篇研究、且有 ≥2 個獨立階段可平行的專案。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強調這不是全自動：AI 產出結構與草稿，所有臨床判斷、方法學決策與核准仍在人手上。這也是可審計性的來源。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示範時可以直接開終端機跑這三步。提醒：所有 Python 都用 uv run，不直接呼叫 python3；專案目錄預設不進 git。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收尾：一條線、可重現、人在迴圈。邀請觀眾 clone repo，從 projects/ici-breast-cancer 開始看。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E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37160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meta-pipe</a:t>
            </a:r>
            <a:endParaRPr lang="en-US" sz="6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5146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 輔助的端到端 Meta-Analysis 工作流程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2004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rgbClr val="9FC5C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從 TOPIC.txt 到可投稿手稿  ·  Powered by Claude Code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4754880"/>
            <a:ext cx="457200" cy="457200"/>
          </a:xfrm>
          <a:prstGeom prst="ellipse">
            <a:avLst/>
          </a:prstGeom>
          <a:solidFill>
            <a:srgbClr val="1C7C82"/>
          </a:solidFill>
          <a:ln w="12700">
            <a:solidFill>
              <a:srgbClr val="1C7C8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4754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00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320040" y="530352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9FC5C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主題發想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612087" y="4754880"/>
            <a:ext cx="457200" cy="457200"/>
          </a:xfrm>
          <a:prstGeom prst="ellipse">
            <a:avLst/>
          </a:prstGeom>
          <a:solidFill>
            <a:srgbClr val="1C7C82"/>
          </a:solidFill>
          <a:ln w="12700">
            <a:solidFill>
              <a:srgbClr val="1C7C8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612087" y="4754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1383487" y="530352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9FC5C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研究計畫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675534" y="4754880"/>
            <a:ext cx="457200" cy="457200"/>
          </a:xfrm>
          <a:prstGeom prst="ellipse">
            <a:avLst/>
          </a:prstGeom>
          <a:solidFill>
            <a:srgbClr val="1C7C82"/>
          </a:solidFill>
          <a:ln w="12700">
            <a:solidFill>
              <a:srgbClr val="1C7C8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2675534" y="4754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2446934" y="530352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9FC5C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文獻搜尋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738982" y="4754880"/>
            <a:ext cx="457200" cy="457200"/>
          </a:xfrm>
          <a:prstGeom prst="ellipse">
            <a:avLst/>
          </a:prstGeom>
          <a:solidFill>
            <a:srgbClr val="1C7C82"/>
          </a:solidFill>
          <a:ln w="12700">
            <a:solidFill>
              <a:srgbClr val="1C7C8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738982" y="4754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3510382" y="530352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9FC5C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雙人篩選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802429" y="4754880"/>
            <a:ext cx="457200" cy="457200"/>
          </a:xfrm>
          <a:prstGeom prst="ellipse">
            <a:avLst/>
          </a:prstGeom>
          <a:solidFill>
            <a:srgbClr val="1C7C82"/>
          </a:solidFill>
          <a:ln w="12700">
            <a:solidFill>
              <a:srgbClr val="1C7C8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802429" y="4754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4573829" y="530352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9FC5C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全文管理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865876" y="4754880"/>
            <a:ext cx="457200" cy="457200"/>
          </a:xfrm>
          <a:prstGeom prst="ellipse">
            <a:avLst/>
          </a:prstGeom>
          <a:solidFill>
            <a:srgbClr val="1C7C82"/>
          </a:solidFill>
          <a:ln w="12700">
            <a:solidFill>
              <a:srgbClr val="1C7C82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865876" y="4754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5637276" y="530352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9FC5C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資料萃取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929323" y="4754880"/>
            <a:ext cx="457200" cy="457200"/>
          </a:xfrm>
          <a:prstGeom prst="ellipse">
            <a:avLst/>
          </a:prstGeom>
          <a:solidFill>
            <a:srgbClr val="1C7C82"/>
          </a:solidFill>
          <a:ln w="12700">
            <a:solidFill>
              <a:srgbClr val="1C7C82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929323" y="4754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6700723" y="530352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9FC5C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統合分析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7992770" y="4754880"/>
            <a:ext cx="457200" cy="457200"/>
          </a:xfrm>
          <a:prstGeom prst="ellipse">
            <a:avLst/>
          </a:prstGeom>
          <a:solidFill>
            <a:srgbClr val="1C7C82"/>
          </a:solidFill>
          <a:ln w="12700">
            <a:solidFill>
              <a:srgbClr val="1C7C82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7992770" y="4754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7764170" y="530352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9FC5C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手稿撰寫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9056218" y="4754880"/>
            <a:ext cx="457200" cy="457200"/>
          </a:xfrm>
          <a:prstGeom prst="ellipse">
            <a:avLst/>
          </a:prstGeom>
          <a:solidFill>
            <a:srgbClr val="1C7C82"/>
          </a:solidFill>
          <a:ln w="12700">
            <a:solidFill>
              <a:srgbClr val="1C7C82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9056218" y="4754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100" dirty="0"/>
          </a:p>
        </p:txBody>
      </p:sp>
      <p:sp>
        <p:nvSpPr>
          <p:cNvPr id="31" name="Text 29"/>
          <p:cNvSpPr txBox="1"/>
          <p:nvPr/>
        </p:nvSpPr>
        <p:spPr>
          <a:xfrm>
            <a:off x="8827618" y="530352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9FC5C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同儕審查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10119665" y="4754880"/>
            <a:ext cx="457200" cy="457200"/>
          </a:xfrm>
          <a:prstGeom prst="ellipse">
            <a:avLst/>
          </a:prstGeom>
          <a:solidFill>
            <a:srgbClr val="1C7C82"/>
          </a:solidFill>
          <a:ln w="12700">
            <a:solidFill>
              <a:srgbClr val="1C7C82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10119665" y="4754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100" dirty="0"/>
          </a:p>
        </p:txBody>
      </p:sp>
      <p:sp>
        <p:nvSpPr>
          <p:cNvPr id="34" name="Text 32"/>
          <p:cNvSpPr txBox="1"/>
          <p:nvPr/>
        </p:nvSpPr>
        <p:spPr>
          <a:xfrm>
            <a:off x="9891065" y="530352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9FC5C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出版品質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11183112" y="4754880"/>
            <a:ext cx="457200" cy="457200"/>
          </a:xfrm>
          <a:prstGeom prst="ellipse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11183112" y="4754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100" dirty="0"/>
          </a:p>
        </p:txBody>
      </p:sp>
      <p:sp>
        <p:nvSpPr>
          <p:cNvPr id="37" name="Text 35"/>
          <p:cNvSpPr txBox="1"/>
          <p:nvPr/>
        </p:nvSpPr>
        <p:spPr>
          <a:xfrm>
            <a:off x="10954512" y="530352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9FC5C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投稿準備</a:t>
            </a:r>
            <a:endParaRPr lang="en-US" sz="900" dirty="0"/>
          </a:p>
        </p:txBody>
      </p:sp>
      <p:sp>
        <p:nvSpPr>
          <p:cNvPr id="38" name="Text 36"/>
          <p:cNvSpPr txBox="1"/>
          <p:nvPr/>
        </p:nvSpPr>
        <p:spPr>
          <a:xfrm>
            <a:off x="548640" y="63093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7FA8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 HT, Yeh JT  ·  github.com/htlin222/meta-pipe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828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C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WHY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B2E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為什麼需要一條流水線？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502920" cy="502920"/>
          </a:xfrm>
          <a:prstGeom prst="ellipse">
            <a:avLst/>
          </a:prstGeom>
          <a:solidFill>
            <a:srgbClr val="0F5257"/>
          </a:solidFill>
          <a:ln w="12700">
            <a:solidFill>
              <a:srgbClr val="0F525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508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1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1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146304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B2E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重複勞動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280160" y="1874520"/>
            <a:ext cx="5120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6323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搜尋、去重、篩選、萃取，每一步都是大量機械式工作，卻又不能出錯。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834640"/>
            <a:ext cx="502920" cy="502920"/>
          </a:xfrm>
          <a:prstGeom prst="ellipse">
            <a:avLst/>
          </a:prstGeom>
          <a:solidFill>
            <a:srgbClr val="0F5257"/>
          </a:solidFill>
          <a:ln w="12700">
            <a:solidFill>
              <a:srgbClr val="0F5257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48640" y="2834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1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10" dirty="0"/>
          </a:p>
        </p:txBody>
      </p:sp>
      <p:sp>
        <p:nvSpPr>
          <p:cNvPr id="10" name="Text 8"/>
          <p:cNvSpPr txBox="1"/>
          <p:nvPr/>
        </p:nvSpPr>
        <p:spPr>
          <a:xfrm>
            <a:off x="1280160" y="278892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B2E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報告規範沉重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1280160" y="3200400"/>
            <a:ext cx="5120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6323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PRISMA 2020 有 27 個項目（NMA 32 個），GRADE、RoB 2 各有一套規則。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4160520"/>
            <a:ext cx="502920" cy="502920"/>
          </a:xfrm>
          <a:prstGeom prst="ellipse">
            <a:avLst/>
          </a:prstGeom>
          <a:solidFill>
            <a:srgbClr val="0F5257"/>
          </a:solidFill>
          <a:ln w="12700">
            <a:solidFill>
              <a:srgbClr val="0F5257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48640" y="4160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1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10" dirty="0"/>
          </a:p>
        </p:txBody>
      </p:sp>
      <p:sp>
        <p:nvSpPr>
          <p:cNvPr id="14" name="Text 12"/>
          <p:cNvSpPr txBox="1"/>
          <p:nvPr/>
        </p:nvSpPr>
        <p:spPr>
          <a:xfrm>
            <a:off x="1280160" y="41148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B2E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難以重現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1280160" y="4526280"/>
            <a:ext cx="5120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6323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決策散落在信件與試算表裡，半年後連自己都無法回溯為何納入某篇研究。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949440" y="1463040"/>
            <a:ext cx="4663440" cy="1828800"/>
          </a:xfrm>
          <a:prstGeom prst="roundRect">
            <a:avLst>
              <a:gd name="adj" fmla="val 6000"/>
            </a:avLst>
          </a:prstGeom>
          <a:solidFill>
            <a:srgbClr val="E6F0EE"/>
          </a:solidFill>
          <a:ln w="12700">
            <a:solidFill>
              <a:srgbClr val="E6F0EE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223760" y="1600200"/>
            <a:ext cx="4206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6B7C7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100+ 小時</a:t>
            </a:r>
            <a:endParaRPr lang="en-US" sz="4400" dirty="0"/>
          </a:p>
        </p:txBody>
      </p:sp>
      <p:sp>
        <p:nvSpPr>
          <p:cNvPr id="18" name="Text 16"/>
          <p:cNvSpPr txBox="1"/>
          <p:nvPr/>
        </p:nvSpPr>
        <p:spPr>
          <a:xfrm>
            <a:off x="7223760" y="251460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7C7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傳統人工完成一篇 meta-analysis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949440" y="3520440"/>
            <a:ext cx="4663440" cy="1828800"/>
          </a:xfrm>
          <a:prstGeom prst="roundRect">
            <a:avLst>
              <a:gd name="adj" fmla="val 6000"/>
            </a:avLst>
          </a:prstGeom>
          <a:solidFill>
            <a:srgbClr val="0B2E33"/>
          </a:solidFill>
          <a:ln w="12700">
            <a:solidFill>
              <a:srgbClr val="0B2E33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223760" y="3657600"/>
            <a:ext cx="4206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E457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約 14 小時</a:t>
            </a:r>
            <a:endParaRPr lang="en-US" sz="4400" dirty="0"/>
          </a:p>
        </p:txBody>
      </p:sp>
      <p:sp>
        <p:nvSpPr>
          <p:cNvPr id="21" name="Text 19"/>
          <p:cNvSpPr txBox="1"/>
          <p:nvPr/>
        </p:nvSpPr>
        <p:spPr>
          <a:xfrm>
            <a:off x="7223760" y="457200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FC5C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meta-pipe 範例專案（5 RCTs，N=2,402）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6949440" y="553212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6B7C7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一般專案估計 22–32 小時，取決於研究數與資料萃取複雜度。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548640" y="64465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7C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meta-pipe  ·  github.com/htlin222/meta-pipe</a:t>
            </a:r>
            <a:endParaRPr lang="en-US" sz="900" dirty="0"/>
          </a:p>
        </p:txBody>
      </p:sp>
      <p:sp>
        <p:nvSpPr>
          <p:cNvPr id="24" name="Text 22"/>
          <p:cNvSpPr txBox="1"/>
          <p:nvPr/>
        </p:nvSpPr>
        <p:spPr>
          <a:xfrm>
            <a:off x="10725912" y="64465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C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828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C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CORE IDEA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B2E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核心理念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11091672" cy="1188720"/>
          </a:xfrm>
          <a:prstGeom prst="roundRect">
            <a:avLst>
              <a:gd name="adj" fmla="val 9231"/>
            </a:avLst>
          </a:prstGeom>
          <a:solidFill>
            <a:srgbClr val="0B2E33"/>
          </a:solidFill>
          <a:ln w="12700">
            <a:solidFill>
              <a:srgbClr val="0B2E3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37160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「TOPIC.txt 進，manuscript.pdf 出」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057400"/>
            <a:ext cx="11091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FC5C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每個階段有專屬 skill、固定的輸出檔案，以及進入下一階段前必須通過的品質閘門。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2926080"/>
            <a:ext cx="3453384" cy="2926080"/>
          </a:xfrm>
          <a:prstGeom prst="roundRect">
            <a:avLst>
              <a:gd name="adj" fmla="val 3750"/>
            </a:avLst>
          </a:prstGeom>
          <a:solidFill>
            <a:srgbClr val="E6F0EE"/>
          </a:solidFill>
          <a:ln w="12700">
            <a:solidFill>
              <a:srgbClr val="E6F0E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22960" y="3200400"/>
            <a:ext cx="457200" cy="457200"/>
          </a:xfrm>
          <a:prstGeom prst="ellipse">
            <a:avLst/>
          </a:prstGeom>
          <a:solidFill>
            <a:srgbClr val="0F5257"/>
          </a:solidFill>
          <a:ln w="12700">
            <a:solidFill>
              <a:srgbClr val="0F5257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22960" y="3200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1417320" y="3200400"/>
            <a:ext cx="23561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2E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Skills 驅動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3840480"/>
            <a:ext cx="290474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6323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每個階段一個 ma-*/SKILL.md，寫明指令、驗證標準與輸出。Claude 依 skill 執行，不憑記憶即興。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367784" y="2926080"/>
            <a:ext cx="3453384" cy="2926080"/>
          </a:xfrm>
          <a:prstGeom prst="roundRect">
            <a:avLst>
              <a:gd name="adj" fmla="val 3750"/>
            </a:avLst>
          </a:prstGeom>
          <a:solidFill>
            <a:srgbClr val="E6F0EE"/>
          </a:solidFill>
          <a:ln w="12700">
            <a:solidFill>
              <a:srgbClr val="E6F0E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42104" y="3200400"/>
            <a:ext cx="457200" cy="457200"/>
          </a:xfrm>
          <a:prstGeom prst="ellipse">
            <a:avLst/>
          </a:prstGeom>
          <a:solidFill>
            <a:srgbClr val="0F5257"/>
          </a:solidFill>
          <a:ln w="12700">
            <a:solidFill>
              <a:srgbClr val="0F5257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642104" y="3200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5236464" y="3200400"/>
            <a:ext cx="23561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2E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可重現工具鏈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4642104" y="3840480"/>
            <a:ext cx="290474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6323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Python 用 uv、R 用 renv、手稿用 Quarto。每一輪搜尋與篩選保留 round-XX，永不覆寫。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8186928" y="2926080"/>
            <a:ext cx="3453384" cy="2926080"/>
          </a:xfrm>
          <a:prstGeom prst="roundRect">
            <a:avLst>
              <a:gd name="adj" fmla="val 3750"/>
            </a:avLst>
          </a:prstGeom>
          <a:solidFill>
            <a:srgbClr val="E6F0EE"/>
          </a:solidFill>
          <a:ln w="12700">
            <a:solidFill>
              <a:srgbClr val="E6F0E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461248" y="3200400"/>
            <a:ext cx="457200" cy="457200"/>
          </a:xfrm>
          <a:prstGeom prst="ellipse">
            <a:avLst/>
          </a:prstGeom>
          <a:solidFill>
            <a:srgbClr val="0F5257"/>
          </a:solidFill>
          <a:ln w="12700">
            <a:solidFill>
              <a:srgbClr val="0F5257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461248" y="3200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9055608" y="3200400"/>
            <a:ext cx="23561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2E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品質閘門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8461248" y="3840480"/>
            <a:ext cx="290474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6323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kappa ≥ 0.60、圖片 ≥ 300 DPI、PRISMA 27/27、出版準備度 ≥ 95%。沒過門檻就不能往下走。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548640" y="64465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7C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meta-pipe  ·  github.com/htlin222/meta-pipe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10725912" y="64465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C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828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C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OVERVIEW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B2E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流程總覽：11 個階段、4 個區塊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2464308" cy="4754880"/>
          </a:xfrm>
          <a:prstGeom prst="roundRect">
            <a:avLst>
              <a:gd name="adj" fmla="val 4453"/>
            </a:avLst>
          </a:prstGeom>
          <a:solidFill>
            <a:srgbClr val="E6F0EE"/>
          </a:solidFill>
          <a:ln w="12700">
            <a:solidFill>
              <a:srgbClr val="E6F0E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508760"/>
            <a:ext cx="20071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B2E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Foundation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1874520"/>
            <a:ext cx="20071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6B7C7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循序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777240" y="2331720"/>
            <a:ext cx="411480" cy="411480"/>
          </a:xfrm>
          <a:prstGeom prst="ellipse">
            <a:avLst/>
          </a:prstGeom>
          <a:solidFill>
            <a:srgbClr val="0F5257"/>
          </a:solidFill>
          <a:ln w="12700">
            <a:solidFill>
              <a:srgbClr val="0F5257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77240" y="23317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9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00</a:t>
            </a:r>
            <a:endParaRPr lang="en-US" sz="990" dirty="0"/>
          </a:p>
        </p:txBody>
      </p:sp>
      <p:sp>
        <p:nvSpPr>
          <p:cNvPr id="9" name="Text 7"/>
          <p:cNvSpPr txBox="1"/>
          <p:nvPr/>
        </p:nvSpPr>
        <p:spPr>
          <a:xfrm>
            <a:off x="1325880" y="2313432"/>
            <a:ext cx="14584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B2E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主題發想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325880" y="2587752"/>
            <a:ext cx="14584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C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TOPIC.txt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777240" y="3246120"/>
            <a:ext cx="411480" cy="411480"/>
          </a:xfrm>
          <a:prstGeom prst="ellipse">
            <a:avLst/>
          </a:prstGeom>
          <a:solidFill>
            <a:srgbClr val="0F5257"/>
          </a:solidFill>
          <a:ln w="12700">
            <a:solidFill>
              <a:srgbClr val="0F5257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77240" y="32461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9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990" dirty="0"/>
          </a:p>
        </p:txBody>
      </p:sp>
      <p:sp>
        <p:nvSpPr>
          <p:cNvPr id="13" name="Text 11"/>
          <p:cNvSpPr txBox="1"/>
          <p:nvPr/>
        </p:nvSpPr>
        <p:spPr>
          <a:xfrm>
            <a:off x="1325880" y="3227832"/>
            <a:ext cx="14584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B2E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研究計畫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325880" y="3502152"/>
            <a:ext cx="14584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C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pico.yaml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777240" y="4160520"/>
            <a:ext cx="411480" cy="411480"/>
          </a:xfrm>
          <a:prstGeom prst="ellipse">
            <a:avLst/>
          </a:prstGeom>
          <a:solidFill>
            <a:srgbClr val="0F5257"/>
          </a:solidFill>
          <a:ln w="12700">
            <a:solidFill>
              <a:srgbClr val="0F5257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77240" y="41605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9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990" dirty="0"/>
          </a:p>
        </p:txBody>
      </p:sp>
      <p:sp>
        <p:nvSpPr>
          <p:cNvPr id="17" name="Text 15"/>
          <p:cNvSpPr txBox="1"/>
          <p:nvPr/>
        </p:nvSpPr>
        <p:spPr>
          <a:xfrm>
            <a:off x="1325880" y="4142232"/>
            <a:ext cx="14584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B2E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文獻搜尋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325880" y="4416552"/>
            <a:ext cx="14584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C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dedupe.bib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086100" y="3566160"/>
            <a:ext cx="265176" cy="274320"/>
          </a:xfrm>
          <a:prstGeom prst="rightArrow">
            <a:avLst/>
          </a:prstGeom>
          <a:solidFill>
            <a:srgbClr val="1C7C82"/>
          </a:solidFill>
          <a:ln w="12700">
            <a:solidFill>
              <a:srgbClr val="1C7C8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424428" y="1371600"/>
            <a:ext cx="2464308" cy="4754880"/>
          </a:xfrm>
          <a:prstGeom prst="roundRect">
            <a:avLst>
              <a:gd name="adj" fmla="val 4453"/>
            </a:avLst>
          </a:prstGeom>
          <a:solidFill>
            <a:srgbClr val="E6F0EE"/>
          </a:solidFill>
          <a:ln w="12700">
            <a:solidFill>
              <a:srgbClr val="E6F0EE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3653028" y="1508760"/>
            <a:ext cx="20071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B2E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Screening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3653028" y="1874520"/>
            <a:ext cx="20071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E457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可平行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3028" y="2331720"/>
            <a:ext cx="411480" cy="411480"/>
          </a:xfrm>
          <a:prstGeom prst="ellipse">
            <a:avLst/>
          </a:prstGeom>
          <a:solidFill>
            <a:srgbClr val="0F5257"/>
          </a:solidFill>
          <a:ln w="12700">
            <a:solidFill>
              <a:srgbClr val="0F5257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3653028" y="23317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9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990" dirty="0"/>
          </a:p>
        </p:txBody>
      </p:sp>
      <p:sp>
        <p:nvSpPr>
          <p:cNvPr id="25" name="Text 23"/>
          <p:cNvSpPr txBox="1"/>
          <p:nvPr/>
        </p:nvSpPr>
        <p:spPr>
          <a:xfrm>
            <a:off x="4201668" y="2313432"/>
            <a:ext cx="14584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B2E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雙人篩選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4201668" y="2587752"/>
            <a:ext cx="14584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C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decisions.csv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653028" y="3246120"/>
            <a:ext cx="411480" cy="411480"/>
          </a:xfrm>
          <a:prstGeom prst="ellipse">
            <a:avLst/>
          </a:prstGeom>
          <a:solidFill>
            <a:srgbClr val="0F5257"/>
          </a:solidFill>
          <a:ln w="12700">
            <a:solidFill>
              <a:srgbClr val="0F5257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3653028" y="32461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9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990" dirty="0"/>
          </a:p>
        </p:txBody>
      </p:sp>
      <p:sp>
        <p:nvSpPr>
          <p:cNvPr id="29" name="Text 27"/>
          <p:cNvSpPr txBox="1"/>
          <p:nvPr/>
        </p:nvSpPr>
        <p:spPr>
          <a:xfrm>
            <a:off x="4201668" y="3227832"/>
            <a:ext cx="14584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B2E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全文管理</a:t>
            </a:r>
            <a:endParaRPr lang="en-US" sz="1400" dirty="0"/>
          </a:p>
        </p:txBody>
      </p:sp>
      <p:sp>
        <p:nvSpPr>
          <p:cNvPr id="30" name="Text 28"/>
          <p:cNvSpPr txBox="1"/>
          <p:nvPr/>
        </p:nvSpPr>
        <p:spPr>
          <a:xfrm>
            <a:off x="4201668" y="3502152"/>
            <a:ext cx="14584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C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manifest.csv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5961888" y="3566160"/>
            <a:ext cx="265176" cy="274320"/>
          </a:xfrm>
          <a:prstGeom prst="rightArrow">
            <a:avLst/>
          </a:prstGeom>
          <a:solidFill>
            <a:srgbClr val="1C7C82"/>
          </a:solidFill>
          <a:ln w="12700">
            <a:solidFill>
              <a:srgbClr val="1C7C82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300216" y="1371600"/>
            <a:ext cx="2464308" cy="4754880"/>
          </a:xfrm>
          <a:prstGeom prst="roundRect">
            <a:avLst>
              <a:gd name="adj" fmla="val 4453"/>
            </a:avLst>
          </a:prstGeom>
          <a:solidFill>
            <a:srgbClr val="E6F0EE"/>
          </a:solidFill>
          <a:ln w="12700">
            <a:solidFill>
              <a:srgbClr val="E6F0EE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6528816" y="1508760"/>
            <a:ext cx="20071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B2E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Processing</a:t>
            </a:r>
            <a:endParaRPr lang="en-US" sz="1600" dirty="0"/>
          </a:p>
        </p:txBody>
      </p:sp>
      <p:sp>
        <p:nvSpPr>
          <p:cNvPr id="34" name="Text 32"/>
          <p:cNvSpPr txBox="1"/>
          <p:nvPr/>
        </p:nvSpPr>
        <p:spPr>
          <a:xfrm>
            <a:off x="6528816" y="1874520"/>
            <a:ext cx="20071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6B7C7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循序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6528816" y="2331720"/>
            <a:ext cx="411480" cy="411480"/>
          </a:xfrm>
          <a:prstGeom prst="ellipse">
            <a:avLst/>
          </a:prstGeom>
          <a:solidFill>
            <a:srgbClr val="0F5257"/>
          </a:solidFill>
          <a:ln w="12700">
            <a:solidFill>
              <a:srgbClr val="0F5257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6528816" y="23317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9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990" dirty="0"/>
          </a:p>
        </p:txBody>
      </p:sp>
      <p:sp>
        <p:nvSpPr>
          <p:cNvPr id="37" name="Text 35"/>
          <p:cNvSpPr txBox="1"/>
          <p:nvPr/>
        </p:nvSpPr>
        <p:spPr>
          <a:xfrm>
            <a:off x="7077456" y="2313432"/>
            <a:ext cx="14584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B2E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資料萃取</a:t>
            </a:r>
            <a:endParaRPr lang="en-US" sz="1400" dirty="0"/>
          </a:p>
        </p:txBody>
      </p:sp>
      <p:sp>
        <p:nvSpPr>
          <p:cNvPr id="38" name="Text 36"/>
          <p:cNvSpPr txBox="1"/>
          <p:nvPr/>
        </p:nvSpPr>
        <p:spPr>
          <a:xfrm>
            <a:off x="7077456" y="2587752"/>
            <a:ext cx="14584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C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extraction.csv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6528816" y="3246120"/>
            <a:ext cx="411480" cy="411480"/>
          </a:xfrm>
          <a:prstGeom prst="ellipse">
            <a:avLst/>
          </a:prstGeom>
          <a:solidFill>
            <a:srgbClr val="0F5257"/>
          </a:solidFill>
          <a:ln w="12700">
            <a:solidFill>
              <a:srgbClr val="0F5257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6528816" y="32461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9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990" dirty="0"/>
          </a:p>
        </p:txBody>
      </p:sp>
      <p:sp>
        <p:nvSpPr>
          <p:cNvPr id="41" name="Text 39"/>
          <p:cNvSpPr txBox="1"/>
          <p:nvPr/>
        </p:nvSpPr>
        <p:spPr>
          <a:xfrm>
            <a:off x="7077456" y="3227832"/>
            <a:ext cx="14584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B2E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統合分析</a:t>
            </a:r>
            <a:endParaRPr lang="en-US" sz="1400" dirty="0"/>
          </a:p>
        </p:txBody>
      </p:sp>
      <p:sp>
        <p:nvSpPr>
          <p:cNvPr id="42" name="Text 40"/>
          <p:cNvSpPr txBox="1"/>
          <p:nvPr/>
        </p:nvSpPr>
        <p:spPr>
          <a:xfrm>
            <a:off x="7077456" y="3502152"/>
            <a:ext cx="14584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C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figures/ tables/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8837676" y="3566160"/>
            <a:ext cx="265176" cy="274320"/>
          </a:xfrm>
          <a:prstGeom prst="rightArrow">
            <a:avLst/>
          </a:prstGeom>
          <a:solidFill>
            <a:srgbClr val="1C7C82"/>
          </a:solidFill>
          <a:ln w="12700">
            <a:solidFill>
              <a:srgbClr val="1C7C82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9176004" y="1371600"/>
            <a:ext cx="2464308" cy="4754880"/>
          </a:xfrm>
          <a:prstGeom prst="roundRect">
            <a:avLst>
              <a:gd name="adj" fmla="val 4453"/>
            </a:avLst>
          </a:prstGeom>
          <a:solidFill>
            <a:srgbClr val="E6F0EE"/>
          </a:solidFill>
          <a:ln w="12700">
            <a:solidFill>
              <a:srgbClr val="E6F0EE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9404604" y="1508760"/>
            <a:ext cx="20071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B2E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Synthesis</a:t>
            </a:r>
            <a:endParaRPr lang="en-US" sz="1600" dirty="0"/>
          </a:p>
        </p:txBody>
      </p:sp>
      <p:sp>
        <p:nvSpPr>
          <p:cNvPr id="46" name="Text 44"/>
          <p:cNvSpPr txBox="1"/>
          <p:nvPr/>
        </p:nvSpPr>
        <p:spPr>
          <a:xfrm>
            <a:off x="9404604" y="1874520"/>
            <a:ext cx="20071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E457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可平行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9404604" y="2331720"/>
            <a:ext cx="411480" cy="411480"/>
          </a:xfrm>
          <a:prstGeom prst="ellipse">
            <a:avLst/>
          </a:prstGeom>
          <a:solidFill>
            <a:srgbClr val="0F5257"/>
          </a:solidFill>
          <a:ln w="12700">
            <a:solidFill>
              <a:srgbClr val="0F5257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9404604" y="23317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9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990" dirty="0"/>
          </a:p>
        </p:txBody>
      </p:sp>
      <p:sp>
        <p:nvSpPr>
          <p:cNvPr id="49" name="Text 47"/>
          <p:cNvSpPr txBox="1"/>
          <p:nvPr/>
        </p:nvSpPr>
        <p:spPr>
          <a:xfrm>
            <a:off x="9953244" y="2313432"/>
            <a:ext cx="14584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B2E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手稿撰寫</a:t>
            </a:r>
            <a:endParaRPr lang="en-US" sz="1400" dirty="0"/>
          </a:p>
        </p:txBody>
      </p:sp>
      <p:sp>
        <p:nvSpPr>
          <p:cNvPr id="50" name="Text 48"/>
          <p:cNvSpPr txBox="1"/>
          <p:nvPr/>
        </p:nvSpPr>
        <p:spPr>
          <a:xfrm>
            <a:off x="9953244" y="2587752"/>
            <a:ext cx="14584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C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manuscript.pdf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9404604" y="3246120"/>
            <a:ext cx="411480" cy="411480"/>
          </a:xfrm>
          <a:prstGeom prst="ellipse">
            <a:avLst/>
          </a:prstGeom>
          <a:solidFill>
            <a:srgbClr val="0F5257"/>
          </a:solidFill>
          <a:ln w="12700">
            <a:solidFill>
              <a:srgbClr val="0F5257"/>
            </a:solidFill>
            <a:prstDash val="solid"/>
          </a:ln>
        </p:spPr>
      </p:sp>
      <p:sp>
        <p:nvSpPr>
          <p:cNvPr id="52" name="Text 50"/>
          <p:cNvSpPr txBox="1"/>
          <p:nvPr/>
        </p:nvSpPr>
        <p:spPr>
          <a:xfrm>
            <a:off x="9404604" y="32461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9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990" dirty="0"/>
          </a:p>
        </p:txBody>
      </p:sp>
      <p:sp>
        <p:nvSpPr>
          <p:cNvPr id="53" name="Text 51"/>
          <p:cNvSpPr txBox="1"/>
          <p:nvPr/>
        </p:nvSpPr>
        <p:spPr>
          <a:xfrm>
            <a:off x="9953244" y="3227832"/>
            <a:ext cx="14584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B2E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同儕審查</a:t>
            </a:r>
            <a:endParaRPr lang="en-US" sz="1400" dirty="0"/>
          </a:p>
        </p:txBody>
      </p:sp>
      <p:sp>
        <p:nvSpPr>
          <p:cNvPr id="54" name="Text 52"/>
          <p:cNvSpPr txBox="1"/>
          <p:nvPr/>
        </p:nvSpPr>
        <p:spPr>
          <a:xfrm>
            <a:off x="9953244" y="3502152"/>
            <a:ext cx="14584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C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grade_summary.md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9404604" y="4160520"/>
            <a:ext cx="411480" cy="411480"/>
          </a:xfrm>
          <a:prstGeom prst="ellipse">
            <a:avLst/>
          </a:prstGeom>
          <a:solidFill>
            <a:srgbClr val="0F5257"/>
          </a:solidFill>
          <a:ln w="12700">
            <a:solidFill>
              <a:srgbClr val="0F5257"/>
            </a:solidFill>
            <a:prstDash val="solid"/>
          </a:ln>
        </p:spPr>
      </p:sp>
      <p:sp>
        <p:nvSpPr>
          <p:cNvPr id="56" name="Text 54"/>
          <p:cNvSpPr txBox="1"/>
          <p:nvPr/>
        </p:nvSpPr>
        <p:spPr>
          <a:xfrm>
            <a:off x="9404604" y="41605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9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990" dirty="0"/>
          </a:p>
        </p:txBody>
      </p:sp>
      <p:sp>
        <p:nvSpPr>
          <p:cNvPr id="57" name="Text 55"/>
          <p:cNvSpPr txBox="1"/>
          <p:nvPr/>
        </p:nvSpPr>
        <p:spPr>
          <a:xfrm>
            <a:off x="9953244" y="4142232"/>
            <a:ext cx="14584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B2E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出版品質</a:t>
            </a:r>
            <a:endParaRPr lang="en-US" sz="1400" dirty="0"/>
          </a:p>
        </p:txBody>
      </p:sp>
      <p:sp>
        <p:nvSpPr>
          <p:cNvPr id="58" name="Text 56"/>
          <p:cNvSpPr txBox="1"/>
          <p:nvPr/>
        </p:nvSpPr>
        <p:spPr>
          <a:xfrm>
            <a:off x="9953244" y="4416552"/>
            <a:ext cx="14584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C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final_qa_report.md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9404604" y="5074920"/>
            <a:ext cx="411480" cy="411480"/>
          </a:xfrm>
          <a:prstGeom prst="ellipse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60" name="Text 58"/>
          <p:cNvSpPr txBox="1"/>
          <p:nvPr/>
        </p:nvSpPr>
        <p:spPr>
          <a:xfrm>
            <a:off x="9404604" y="50749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9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990" dirty="0"/>
          </a:p>
        </p:txBody>
      </p:sp>
      <p:sp>
        <p:nvSpPr>
          <p:cNvPr id="61" name="Text 59"/>
          <p:cNvSpPr txBox="1"/>
          <p:nvPr/>
        </p:nvSpPr>
        <p:spPr>
          <a:xfrm>
            <a:off x="9953244" y="5056632"/>
            <a:ext cx="14584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B2E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投稿準備</a:t>
            </a:r>
            <a:endParaRPr lang="en-US" sz="1400" dirty="0"/>
          </a:p>
        </p:txBody>
      </p:sp>
      <p:sp>
        <p:nvSpPr>
          <p:cNvPr id="62" name="Text 60"/>
          <p:cNvSpPr txBox="1"/>
          <p:nvPr/>
        </p:nvSpPr>
        <p:spPr>
          <a:xfrm>
            <a:off x="9953244" y="5330952"/>
            <a:ext cx="14584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C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PROSPERO / submit</a:t>
            </a:r>
            <a:endParaRPr lang="en-US" sz="1000" dirty="0"/>
          </a:p>
        </p:txBody>
      </p:sp>
      <p:sp>
        <p:nvSpPr>
          <p:cNvPr id="63" name="Text 61"/>
          <p:cNvSpPr txBox="1"/>
          <p:nvPr/>
        </p:nvSpPr>
        <p:spPr>
          <a:xfrm>
            <a:off x="548640" y="64465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7C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meta-pipe  ·  github.com/htlin222/meta-pipe</a:t>
            </a:r>
            <a:endParaRPr lang="en-US" sz="900" dirty="0"/>
          </a:p>
        </p:txBody>
      </p:sp>
      <p:sp>
        <p:nvSpPr>
          <p:cNvPr id="64" name="Text 62"/>
          <p:cNvSpPr txBox="1"/>
          <p:nvPr/>
        </p:nvSpPr>
        <p:spPr>
          <a:xfrm>
            <a:off x="10725912" y="64465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C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828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C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STAGE 00 – 02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B2E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從問題到文獻：主題、計畫、搜尋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502920" cy="502920"/>
          </a:xfrm>
          <a:prstGeom prst="ellipse">
            <a:avLst/>
          </a:prstGeom>
          <a:solidFill>
            <a:srgbClr val="0F5257"/>
          </a:solidFill>
          <a:ln w="12700">
            <a:solidFill>
              <a:srgbClr val="0F525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463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1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00</a:t>
            </a:r>
            <a:endParaRPr lang="en-US" sz="121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146304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B2E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主題發想與可行性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280160" y="1874520"/>
            <a:ext cx="5852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6323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「brainstorm」互動式收斂研究問題；產出 TOPIC.txt。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2834640"/>
            <a:ext cx="502920" cy="502920"/>
          </a:xfrm>
          <a:prstGeom prst="ellipse">
            <a:avLst/>
          </a:prstGeom>
          <a:solidFill>
            <a:srgbClr val="0F5257"/>
          </a:solidFill>
          <a:ln w="12700">
            <a:solidFill>
              <a:srgbClr val="0F5257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48640" y="2834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1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210" dirty="0"/>
          </a:p>
        </p:txBody>
      </p:sp>
      <p:sp>
        <p:nvSpPr>
          <p:cNvPr id="10" name="Text 8"/>
          <p:cNvSpPr txBox="1"/>
          <p:nvPr/>
        </p:nvSpPr>
        <p:spPr>
          <a:xfrm>
            <a:off x="1280160" y="283464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B2E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研究計畫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1280160" y="3246120"/>
            <a:ext cx="5852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6323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PICO → pico.yaml、eligibility.md、search-plan.md；決定初步分析類型（≥3 種治療 → nma_candidate）。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4206240"/>
            <a:ext cx="502920" cy="502920"/>
          </a:xfrm>
          <a:prstGeom prst="ellipse">
            <a:avLst/>
          </a:prstGeom>
          <a:solidFill>
            <a:srgbClr val="0F5257"/>
          </a:solidFill>
          <a:ln w="12700">
            <a:solidFill>
              <a:srgbClr val="0F5257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48640" y="4206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1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210" dirty="0"/>
          </a:p>
        </p:txBody>
      </p:sp>
      <p:sp>
        <p:nvSpPr>
          <p:cNvPr id="14" name="Text 12"/>
          <p:cNvSpPr txBox="1"/>
          <p:nvPr/>
        </p:nvSpPr>
        <p:spPr>
          <a:xfrm>
            <a:off x="1280160" y="420624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B2E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文獻搜尋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1280160" y="4617720"/>
            <a:ext cx="5852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6323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PubMed + Scopus 為最低要求（PRISMA 需 ≥2 資料庫），可加 Embase、Cochrane；以 round-01/ 保存 queries、results.bib、dedupe.bib。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7498080" y="1463040"/>
            <a:ext cx="4114800" cy="3566160"/>
          </a:xfrm>
          <a:prstGeom prst="roundRect">
            <a:avLst>
              <a:gd name="adj" fmla="val 3077"/>
            </a:avLst>
          </a:prstGeom>
          <a:solidFill>
            <a:srgbClr val="0B2E33"/>
          </a:solidFill>
          <a:ln w="12700">
            <a:solidFill>
              <a:srgbClr val="0B2E33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772400" y="16459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457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強制第一步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7772400" y="196596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 小時可行性評估</a:t>
            </a:r>
            <a:endParaRPr lang="en-US" sz="2200" dirty="0"/>
          </a:p>
        </p:txBody>
      </p:sp>
      <p:sp>
        <p:nvSpPr>
          <p:cNvPr id="19" name="Text 17"/>
          <p:cNvSpPr txBox="1"/>
          <p:nvPr/>
        </p:nvSpPr>
        <p:spPr>
          <a:xfrm>
            <a:off x="7772400" y="2697480"/>
            <a:ext cx="36118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E6F0E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先確認研究數量夠不夠、結局定義是否一致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E6F0E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評估過才能開始寫計畫或萃取資料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E6F0E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目的：避免在無法回答的問題上浪費 10–40 小時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E6F0E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產出 FEASIBILITY_REPORT.md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64465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7C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meta-pipe  ·  github.com/htlin222/meta-pipe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10725912" y="64465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C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828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C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STAGE 03 – 04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B2E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篩選與全文：雙人審查、分析類型確認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716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B2E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 雙人獨立篩選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1920240" cy="731520"/>
          </a:xfrm>
          <a:prstGeom prst="roundRect">
            <a:avLst>
              <a:gd name="adj" fmla="val 15000"/>
            </a:avLst>
          </a:prstGeom>
          <a:solidFill>
            <a:srgbClr val="E6F0EE"/>
          </a:solidFill>
          <a:ln w="12700">
            <a:solidFill>
              <a:srgbClr val="E6F0E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192024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52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Reviewer 1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2926080"/>
            <a:ext cx="1920240" cy="731520"/>
          </a:xfrm>
          <a:prstGeom prst="roundRect">
            <a:avLst>
              <a:gd name="adj" fmla="val 15000"/>
            </a:avLst>
          </a:prstGeom>
          <a:solidFill>
            <a:srgbClr val="E6F0EE"/>
          </a:solidFill>
          <a:ln w="12700">
            <a:solidFill>
              <a:srgbClr val="E6F0E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292608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52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Reviewer 2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2606040" y="2148840"/>
            <a:ext cx="548640" cy="274320"/>
          </a:xfrm>
          <a:prstGeom prst="rightArrow">
            <a:avLst/>
          </a:prstGeom>
          <a:solidFill>
            <a:srgbClr val="1C7C82"/>
          </a:solidFill>
          <a:ln w="12700">
            <a:solidFill>
              <a:srgbClr val="1C7C8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606040" y="3154680"/>
            <a:ext cx="548640" cy="274320"/>
          </a:xfrm>
          <a:prstGeom prst="rightArrow">
            <a:avLst/>
          </a:prstGeom>
          <a:solidFill>
            <a:srgbClr val="1C7C82"/>
          </a:solidFill>
          <a:ln w="12700">
            <a:solidFill>
              <a:srgbClr val="1C7C8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91840" y="2240280"/>
            <a:ext cx="1463040" cy="1097280"/>
          </a:xfrm>
          <a:prstGeom prst="roundRect">
            <a:avLst>
              <a:gd name="adj" fmla="val 10000"/>
            </a:avLst>
          </a:prstGeom>
          <a:solidFill>
            <a:srgbClr val="0B2E33"/>
          </a:solidFill>
          <a:ln w="12700">
            <a:solidFill>
              <a:srgbClr val="0B2E33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291840" y="228600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457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κ ≥ 0.60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3291840" y="278892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FC5C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品質閘門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892040" y="2651760"/>
            <a:ext cx="548640" cy="274320"/>
          </a:xfrm>
          <a:prstGeom prst="rightArrow">
            <a:avLst/>
          </a:prstGeom>
          <a:solidFill>
            <a:srgbClr val="1C7C82"/>
          </a:solidFill>
          <a:ln w="12700">
            <a:solidFill>
              <a:srgbClr val="1C7C8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577840" y="2240280"/>
            <a:ext cx="1463040" cy="1097280"/>
          </a:xfrm>
          <a:prstGeom prst="roundRect">
            <a:avLst>
              <a:gd name="adj" fmla="val 10000"/>
            </a:avLst>
          </a:prstGeom>
          <a:solidFill>
            <a:srgbClr val="E6F0EE"/>
          </a:solidFill>
          <a:ln w="12700">
            <a:solidFill>
              <a:srgbClr val="E6F0EE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577840" y="2240280"/>
            <a:ext cx="1463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2E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衝突裁決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0B2E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included.bib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3977640"/>
            <a:ext cx="65836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6323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ai_screen.py 分別以 reviewer 1 / 2 執行，決策記錄於 decisions.csv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6323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dual_review_agreement.py 計算 Cohen's kappa，寫入 agreement.md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6323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Stage 04：以 Unpaywall 取得 PDF，建立 manifest.csv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6323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Stage 04b：全文適格性再做一次雙人篩選（PRISMA 2020 第 16 項）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7498080" y="1371600"/>
            <a:ext cx="4114800" cy="4023360"/>
          </a:xfrm>
          <a:prstGeom prst="roundRect">
            <a:avLst>
              <a:gd name="adj" fmla="val 2727"/>
            </a:avLst>
          </a:prstGeom>
          <a:solidFill>
            <a:srgbClr val="E6F0EE"/>
          </a:solidFill>
          <a:ln w="12700">
            <a:solidFill>
              <a:srgbClr val="E6F0EE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772400" y="15544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C7C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03b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7772400" y="18288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B2E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分析類型確認閘門</a:t>
            </a:r>
            <a:endParaRPr lang="en-US" sz="2000" dirty="0"/>
          </a:p>
        </p:txBody>
      </p:sp>
      <p:sp>
        <p:nvSpPr>
          <p:cNvPr id="21" name="Text 19"/>
          <p:cNvSpPr txBox="1"/>
          <p:nvPr/>
        </p:nvSpPr>
        <p:spPr>
          <a:xfrm>
            <a:off x="7772400" y="2468880"/>
            <a:ext cx="361188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6323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統計納入研究的設計類型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6323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評估網絡連通性與 transitivity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6323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單臂研究 &gt;30% → 強烈建議降級為 pairwise + pooled proportion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6323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結果寫入 analysis-type-decision.md 與 pico.yaml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6323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未確認分析類型，不得進入 Stage 06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548640" y="64465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7C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meta-pipe  ·  github.com/htlin222/meta-pipe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10725912" y="64465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C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828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C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STAGE 05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B2E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資料萃取：LLM 先做，人再複核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2430018" cy="1737360"/>
          </a:xfrm>
          <a:prstGeom prst="roundRect">
            <a:avLst>
              <a:gd name="adj" fmla="val 6316"/>
            </a:avLst>
          </a:prstGeom>
          <a:solidFill>
            <a:srgbClr val="E6F0EE"/>
          </a:solidFill>
          <a:ln w="12700">
            <a:solidFill>
              <a:srgbClr val="E6F0E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691640"/>
            <a:ext cx="411480" cy="411480"/>
          </a:xfrm>
          <a:prstGeom prst="ellipse">
            <a:avLst/>
          </a:prstGeom>
          <a:solidFill>
            <a:srgbClr val="0F5257"/>
          </a:solidFill>
          <a:ln w="12700">
            <a:solidFill>
              <a:srgbClr val="0F525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16916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9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9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240280"/>
            <a:ext cx="19728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B2E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抽出 PDF 文字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651760"/>
            <a:ext cx="19728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7C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extract_pdf_text.py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070098" y="2194560"/>
            <a:ext cx="274320" cy="274320"/>
          </a:xfrm>
          <a:prstGeom prst="rightArrow">
            <a:avLst/>
          </a:prstGeom>
          <a:solidFill>
            <a:srgbClr val="1C7C82"/>
          </a:solidFill>
          <a:ln w="12700">
            <a:solidFill>
              <a:srgbClr val="1C7C8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35858" y="1463040"/>
            <a:ext cx="2430018" cy="1737360"/>
          </a:xfrm>
          <a:prstGeom prst="roundRect">
            <a:avLst>
              <a:gd name="adj" fmla="val 6316"/>
            </a:avLst>
          </a:prstGeom>
          <a:solidFill>
            <a:srgbClr val="E6F0EE"/>
          </a:solidFill>
          <a:ln w="12700">
            <a:solidFill>
              <a:srgbClr val="E6F0E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64458" y="1691640"/>
            <a:ext cx="411480" cy="411480"/>
          </a:xfrm>
          <a:prstGeom prst="ellipse">
            <a:avLst/>
          </a:prstGeom>
          <a:solidFill>
            <a:srgbClr val="0F5257"/>
          </a:solidFill>
          <a:ln w="12700">
            <a:solidFill>
              <a:srgbClr val="0F5257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664458" y="16916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9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90" dirty="0"/>
          </a:p>
        </p:txBody>
      </p:sp>
      <p:sp>
        <p:nvSpPr>
          <p:cNvPr id="13" name="Text 11"/>
          <p:cNvSpPr txBox="1"/>
          <p:nvPr/>
        </p:nvSpPr>
        <p:spPr>
          <a:xfrm>
            <a:off x="3664458" y="2240280"/>
            <a:ext cx="19728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B2E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LLM 結構化萃取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3664458" y="2651760"/>
            <a:ext cx="19728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7C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llm_extract_cli.py --cli claude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957316" y="2194560"/>
            <a:ext cx="274320" cy="274320"/>
          </a:xfrm>
          <a:prstGeom prst="rightArrow">
            <a:avLst/>
          </a:prstGeom>
          <a:solidFill>
            <a:srgbClr val="1C7C82"/>
          </a:solidFill>
          <a:ln w="12700">
            <a:solidFill>
              <a:srgbClr val="1C7C8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323076" y="1463040"/>
            <a:ext cx="2430018" cy="1737360"/>
          </a:xfrm>
          <a:prstGeom prst="roundRect">
            <a:avLst>
              <a:gd name="adj" fmla="val 6316"/>
            </a:avLst>
          </a:prstGeom>
          <a:solidFill>
            <a:srgbClr val="0B2E33"/>
          </a:solidFill>
          <a:ln w="12700">
            <a:solidFill>
              <a:srgbClr val="0B2E3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551676" y="1691640"/>
            <a:ext cx="411480" cy="411480"/>
          </a:xfrm>
          <a:prstGeom prst="ellipse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551676" y="16916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9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90" dirty="0"/>
          </a:p>
        </p:txBody>
      </p:sp>
      <p:sp>
        <p:nvSpPr>
          <p:cNvPr id="19" name="Text 17"/>
          <p:cNvSpPr txBox="1"/>
          <p:nvPr/>
        </p:nvSpPr>
        <p:spPr>
          <a:xfrm>
            <a:off x="6551676" y="2240280"/>
            <a:ext cx="19728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人工複核與修正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6551676" y="2651760"/>
            <a:ext cx="19728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FC5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編輯 extraction.csv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8844534" y="2194560"/>
            <a:ext cx="274320" cy="274320"/>
          </a:xfrm>
          <a:prstGeom prst="rightArrow">
            <a:avLst/>
          </a:prstGeom>
          <a:solidFill>
            <a:srgbClr val="1C7C82"/>
          </a:solidFill>
          <a:ln w="12700">
            <a:solidFill>
              <a:srgbClr val="1C7C8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210294" y="1463040"/>
            <a:ext cx="2430018" cy="1737360"/>
          </a:xfrm>
          <a:prstGeom prst="roundRect">
            <a:avLst>
              <a:gd name="adj" fmla="val 6316"/>
            </a:avLst>
          </a:prstGeom>
          <a:solidFill>
            <a:srgbClr val="E6F0EE"/>
          </a:solidFill>
          <a:ln w="12700">
            <a:solidFill>
              <a:srgbClr val="E6F0EE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438894" y="1691640"/>
            <a:ext cx="411480" cy="411480"/>
          </a:xfrm>
          <a:prstGeom prst="ellipse">
            <a:avLst/>
          </a:prstGeom>
          <a:solidFill>
            <a:srgbClr val="0F5257"/>
          </a:solidFill>
          <a:ln w="12700">
            <a:solidFill>
              <a:srgbClr val="0F5257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9438894" y="16916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9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90" dirty="0"/>
          </a:p>
        </p:txBody>
      </p:sp>
      <p:sp>
        <p:nvSpPr>
          <p:cNvPr id="25" name="Text 23"/>
          <p:cNvSpPr txBox="1"/>
          <p:nvPr/>
        </p:nvSpPr>
        <p:spPr>
          <a:xfrm>
            <a:off x="9438894" y="2240280"/>
            <a:ext cx="19728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B2E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自動驗證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9438894" y="2651760"/>
            <a:ext cx="19728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7C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validate_extraction.py</a:t>
            </a:r>
            <a:endParaRPr lang="en-US" sz="1050" dirty="0"/>
          </a:p>
        </p:txBody>
      </p:sp>
      <p:sp>
        <p:nvSpPr>
          <p:cNvPr id="27" name="Text 25"/>
          <p:cNvSpPr txBox="1"/>
          <p:nvPr/>
        </p:nvSpPr>
        <p:spPr>
          <a:xfrm>
            <a:off x="548640" y="3657600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0F52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65–70%</a:t>
            </a:r>
            <a:endParaRPr lang="en-US" sz="3600" dirty="0"/>
          </a:p>
        </p:txBody>
      </p:sp>
      <p:sp>
        <p:nvSpPr>
          <p:cNvPr id="28" name="Text 26"/>
          <p:cNvSpPr txBox="1"/>
          <p:nvPr/>
        </p:nvSpPr>
        <p:spPr>
          <a:xfrm>
            <a:off x="548640" y="43891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C7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相較人工的時間節省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4297680" y="3657600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0F52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3600" dirty="0"/>
          </a:p>
        </p:txBody>
      </p:sp>
      <p:sp>
        <p:nvSpPr>
          <p:cNvPr id="30" name="Text 28"/>
          <p:cNvSpPr txBox="1"/>
          <p:nvPr/>
        </p:nvSpPr>
        <p:spPr>
          <a:xfrm>
            <a:off x="4297680" y="43891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C7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PDF 處理成功率（範例專案）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8046720" y="3657600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0F52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US$0–5</a:t>
            </a:r>
            <a:endParaRPr lang="en-US" sz="3600" dirty="0"/>
          </a:p>
        </p:txBody>
      </p:sp>
      <p:sp>
        <p:nvSpPr>
          <p:cNvPr id="32" name="Text 30"/>
          <p:cNvSpPr txBox="1"/>
          <p:nvPr/>
        </p:nvSpPr>
        <p:spPr>
          <a:xfrm>
            <a:off x="8046720" y="43891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C7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每篇 meta-analysis 的 LLM 成本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548640" y="4983480"/>
            <a:ext cx="1109167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6323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輸入僅限 FT_Final_Decision = include 的研究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6323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同時完成偏誤風險評估：RCT 用 RoB 2，觀察性研究用 ROBINS-I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6323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輸出 extraction.csv、extraction.sqlite 與 data-dictionary.md；低信心欄位以 flag_low_confidence.py 標記</a:t>
            </a:r>
            <a:endParaRPr lang="en-US" sz="1250" dirty="0"/>
          </a:p>
        </p:txBody>
      </p:sp>
      <p:sp>
        <p:nvSpPr>
          <p:cNvPr id="34" name="Text 32"/>
          <p:cNvSpPr txBox="1"/>
          <p:nvPr/>
        </p:nvSpPr>
        <p:spPr>
          <a:xfrm>
            <a:off x="548640" y="64465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7C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meta-pipe  ·  github.com/htlin222/meta-pipe</a:t>
            </a:r>
            <a:endParaRPr lang="en-US" sz="900" dirty="0"/>
          </a:p>
        </p:txBody>
      </p:sp>
      <p:sp>
        <p:nvSpPr>
          <p:cNvPr id="35" name="Text 33"/>
          <p:cNvSpPr txBox="1"/>
          <p:nvPr/>
        </p:nvSpPr>
        <p:spPr>
          <a:xfrm>
            <a:off x="10725912" y="64465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C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828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C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STAGE 06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B2E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統合分析：依分析類型自動分流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2651760" cy="1280160"/>
          </a:xfrm>
          <a:prstGeom prst="roundRect">
            <a:avLst>
              <a:gd name="adj" fmla="val 8571"/>
            </a:avLst>
          </a:prstGeom>
          <a:solidFill>
            <a:srgbClr val="0B2E33"/>
          </a:solidFill>
          <a:ln w="12700">
            <a:solidFill>
              <a:srgbClr val="0B2E3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554480"/>
            <a:ext cx="2651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analysis_type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.confirmed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 flipV="1">
            <a:off x="3200400" y="1805940"/>
            <a:ext cx="1280160" cy="388620"/>
          </a:xfrm>
          <a:prstGeom prst="line">
            <a:avLst/>
          </a:prstGeom>
          <a:noFill/>
          <a:ln w="19050">
            <a:solidFill>
              <a:srgbClr val="C9DAD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0" y="1325880"/>
            <a:ext cx="7040880" cy="960120"/>
          </a:xfrm>
          <a:prstGeom prst="roundRect">
            <a:avLst>
              <a:gd name="adj" fmla="val 11429"/>
            </a:avLst>
          </a:prstGeom>
          <a:solidFill>
            <a:srgbClr val="E6F0EE"/>
          </a:solidFill>
          <a:ln w="12700">
            <a:solidFill>
              <a:srgbClr val="E6F0E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800600" y="143560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C7C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pairwise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4800600" y="1709928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B2E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Pairwise MA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7223760" y="1463040"/>
            <a:ext cx="4160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6323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 腳本 01–12：forest、funnel、敏感度、次群組、meta-regression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200400" y="2194560"/>
            <a:ext cx="1280160" cy="754380"/>
          </a:xfrm>
          <a:prstGeom prst="line">
            <a:avLst/>
          </a:prstGeom>
          <a:noFill/>
          <a:ln w="19050">
            <a:solidFill>
              <a:srgbClr val="C9DAD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0" y="2468880"/>
            <a:ext cx="7040880" cy="960120"/>
          </a:xfrm>
          <a:prstGeom prst="roundRect">
            <a:avLst>
              <a:gd name="adj" fmla="val 11429"/>
            </a:avLst>
          </a:prstGeom>
          <a:solidFill>
            <a:srgbClr val="E6F0EE"/>
          </a:solidFill>
          <a:ln w="12700">
            <a:solidFill>
              <a:srgbClr val="E6F0E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800600" y="257860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C7C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nma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4800600" y="2852928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B2E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Network MA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7223760" y="2606040"/>
            <a:ext cx="4160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6323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nma_01–10 Bayesian NMA；nma_11 CNMA、nma_12 meta-regression、nma_13 transitivity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3200400" y="2194560"/>
            <a:ext cx="1280160" cy="1897380"/>
          </a:xfrm>
          <a:prstGeom prst="line">
            <a:avLst/>
          </a:prstGeom>
          <a:noFill/>
          <a:ln w="19050">
            <a:solidFill>
              <a:srgbClr val="C9DAD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0" y="3611880"/>
            <a:ext cx="7040880" cy="960120"/>
          </a:xfrm>
          <a:prstGeom prst="roundRect">
            <a:avLst>
              <a:gd name="adj" fmla="val 11429"/>
            </a:avLst>
          </a:prstGeom>
          <a:solidFill>
            <a:srgbClr val="E6F0EE"/>
          </a:solidFill>
          <a:ln w="12700">
            <a:solidFill>
              <a:srgbClr val="E6F0EE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800600" y="372160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C7C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pooled_proportion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4800600" y="3995928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B2E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Pooled proportion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7223760" y="3749040"/>
            <a:ext cx="4160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6323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單臂或比例資料的合併估計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3200400" y="2194560"/>
            <a:ext cx="1280160" cy="3040380"/>
          </a:xfrm>
          <a:prstGeom prst="line">
            <a:avLst/>
          </a:prstGeom>
          <a:noFill/>
          <a:ln w="19050">
            <a:solidFill>
              <a:srgbClr val="C9DAD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572000" y="4754880"/>
            <a:ext cx="7040880" cy="960120"/>
          </a:xfrm>
          <a:prstGeom prst="roundRect">
            <a:avLst>
              <a:gd name="adj" fmla="val 11429"/>
            </a:avLst>
          </a:prstGeom>
          <a:solidFill>
            <a:srgbClr val="E6F0EE"/>
          </a:solidFill>
          <a:ln w="12700">
            <a:solidFill>
              <a:srgbClr val="E6F0EE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800600" y="486460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C7C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narrative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4800600" y="5138928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B2E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Narrative synthesis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7223760" y="4892040"/>
            <a:ext cx="4160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6323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資料無法量化合併時的結構化敘述</a:t>
            </a:r>
            <a:endParaRPr lang="en-US" sz="1150" dirty="0"/>
          </a:p>
        </p:txBody>
      </p:sp>
      <p:sp>
        <p:nvSpPr>
          <p:cNvPr id="26" name="Text 24"/>
          <p:cNvSpPr txBox="1"/>
          <p:nvPr/>
        </p:nvSpPr>
        <p:spPr>
          <a:xfrm>
            <a:off x="548640" y="3200400"/>
            <a:ext cx="36576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6323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 + renv 鎖定套件版本（renv.lock）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6323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所有圖片 ≥ 300 DPI，多面板圖以 assemble_figures.py 組合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6323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輸出 figures/、tables/ 直接供手稿引用</a:t>
            </a:r>
            <a:endParaRPr lang="en-US" sz="1250" dirty="0"/>
          </a:p>
        </p:txBody>
      </p:sp>
      <p:sp>
        <p:nvSpPr>
          <p:cNvPr id="27" name="Text 25"/>
          <p:cNvSpPr txBox="1"/>
          <p:nvPr/>
        </p:nvSpPr>
        <p:spPr>
          <a:xfrm>
            <a:off x="548640" y="64465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7C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meta-pipe  ·  github.com/htlin222/meta-pipe</a:t>
            </a:r>
            <a:endParaRPr lang="en-US" sz="900" dirty="0"/>
          </a:p>
        </p:txBody>
      </p:sp>
      <p:sp>
        <p:nvSpPr>
          <p:cNvPr id="28" name="Text 26"/>
          <p:cNvSpPr txBox="1"/>
          <p:nvPr/>
        </p:nvSpPr>
        <p:spPr>
          <a:xfrm>
            <a:off x="10725912" y="64465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C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828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C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STAGE 07 – 10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B2E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從手稿到投稿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2532888" cy="3383280"/>
          </a:xfrm>
          <a:prstGeom prst="roundRect">
            <a:avLst>
              <a:gd name="adj" fmla="val 4332"/>
            </a:avLst>
          </a:prstGeom>
          <a:solidFill>
            <a:srgbClr val="E6F0EE"/>
          </a:solidFill>
          <a:ln w="12700">
            <a:solidFill>
              <a:srgbClr val="E6F0E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600200"/>
            <a:ext cx="457200" cy="457200"/>
          </a:xfrm>
          <a:prstGeom prst="ellipse">
            <a:avLst/>
          </a:prstGeom>
          <a:solidFill>
            <a:srgbClr val="0F5257"/>
          </a:solidFill>
          <a:ln w="12700">
            <a:solidFill>
              <a:srgbClr val="0F525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1600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1371600" y="1600200"/>
            <a:ext cx="1527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2E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手稿撰寫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286000"/>
            <a:ext cx="2075688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6323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先填 manuscript_outline.md，取得使用者同意才動筆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6323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Quarto 組裝五大段落與表格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6323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6–8 小時達到 90% 可投稿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3401568" y="1371600"/>
            <a:ext cx="2532888" cy="3383280"/>
          </a:xfrm>
          <a:prstGeom prst="roundRect">
            <a:avLst>
              <a:gd name="adj" fmla="val 4332"/>
            </a:avLst>
          </a:prstGeom>
          <a:solidFill>
            <a:srgbClr val="E6F0EE"/>
          </a:solidFill>
          <a:ln w="12700">
            <a:solidFill>
              <a:srgbClr val="E6F0E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30168" y="1600200"/>
            <a:ext cx="457200" cy="457200"/>
          </a:xfrm>
          <a:prstGeom prst="ellipse">
            <a:avLst/>
          </a:prstGeom>
          <a:solidFill>
            <a:srgbClr val="0F5257"/>
          </a:solidFill>
          <a:ln w="12700">
            <a:solidFill>
              <a:srgbClr val="0F5257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630168" y="1600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224528" y="1600200"/>
            <a:ext cx="1527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2E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同儕審查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3630168" y="2286000"/>
            <a:ext cx="2075688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6323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GRADE 證據品質分級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6323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Summary of Findings 表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6323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RoB 2 / ROBINS-I 彙整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254496" y="1371600"/>
            <a:ext cx="2532888" cy="3383280"/>
          </a:xfrm>
          <a:prstGeom prst="roundRect">
            <a:avLst>
              <a:gd name="adj" fmla="val 4332"/>
            </a:avLst>
          </a:prstGeom>
          <a:solidFill>
            <a:srgbClr val="E6F0EE"/>
          </a:solidFill>
          <a:ln w="12700">
            <a:solidFill>
              <a:srgbClr val="E6F0E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83096" y="1600200"/>
            <a:ext cx="457200" cy="457200"/>
          </a:xfrm>
          <a:prstGeom prst="ellipse">
            <a:avLst/>
          </a:prstGeom>
          <a:solidFill>
            <a:srgbClr val="0F5257"/>
          </a:solidFill>
          <a:ln w="12700">
            <a:solidFill>
              <a:srgbClr val="0F5257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483096" y="1600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7077456" y="1600200"/>
            <a:ext cx="1527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2E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出版品質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6483096" y="2286000"/>
            <a:ext cx="2075688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6323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publication_readiness_score.py：0–100% 客觀評分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6323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claim_audit.py：12 種過度宣稱型態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6323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PRISMA 27/27、交叉引用檢查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9107424" y="1371600"/>
            <a:ext cx="2532888" cy="3383280"/>
          </a:xfrm>
          <a:prstGeom prst="roundRect">
            <a:avLst>
              <a:gd name="adj" fmla="val 4332"/>
            </a:avLst>
          </a:prstGeom>
          <a:solidFill>
            <a:srgbClr val="0B2E33"/>
          </a:solidFill>
          <a:ln w="12700">
            <a:solidFill>
              <a:srgbClr val="0B2E3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336024" y="1600200"/>
            <a:ext cx="457200" cy="457200"/>
          </a:xfrm>
          <a:prstGeom prst="ellipse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9336024" y="1600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9930384" y="1600200"/>
            <a:ext cx="1527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投稿準備</a:t>
            </a:r>
            <a:endParaRPr lang="en-US" sz="1800" dirty="0"/>
          </a:p>
        </p:txBody>
      </p:sp>
      <p:sp>
        <p:nvSpPr>
          <p:cNvPr id="23" name="Text 21"/>
          <p:cNvSpPr txBox="1"/>
          <p:nvPr/>
        </p:nvSpPr>
        <p:spPr>
          <a:xfrm>
            <a:off x="9336024" y="2286000"/>
            <a:ext cx="2075688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E6F0E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PROSPERO 登錄文件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E6F0E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期刊格式（Lancet / JAMA / Nat Med）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E6F0E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品質精修：90% → 95–98%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548640" y="64465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7C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meta-pipe  ·  github.com/htlin222/meta-pipe</a:t>
            </a:r>
            <a:endParaRPr lang="en-US" sz="900" dirty="0"/>
          </a:p>
        </p:txBody>
      </p:sp>
      <p:sp>
        <p:nvSpPr>
          <p:cNvPr id="25" name="Text 23"/>
          <p:cNvSpPr txBox="1"/>
          <p:nvPr/>
        </p:nvSpPr>
        <p:spPr>
          <a:xfrm>
            <a:off x="10725912" y="64465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C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828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C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QUALITY GATES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B2E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品質閘門：沒過門檻，不進下一站</a:t>
            </a:r>
            <a:endParaRPr lang="en-US" sz="30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1672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3657600"/>
                <a:gridCol w="5422392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轉換點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A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525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閘門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A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525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門檻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A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525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63238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00 → 01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A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63238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可行性評估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A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263238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4 小時評估完成，FEASIBILITY_REPORT.md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A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63238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03 → 04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A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63238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題目/摘要篩選一致性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A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263238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Cohen's kappa ≥ 0.60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A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63238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03b → 06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A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63238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分析類型確認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A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263238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analysis_type.confirmed 已填寫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A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63238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04 → 05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A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63238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全文篩選一致性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A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263238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kappa ≥ 0.60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A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63238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05 → 06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A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63238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萃取完整性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A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263238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所有納入研究皆已萃取並通過驗證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A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63238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06 → 07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A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63238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圖片品質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A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263238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所有圖片 ≥ 300 DPI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A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63238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07 → 08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A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63238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手稿大綱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A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263238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使用者核准 manuscript_outline.md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A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63238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09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A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63238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出版準備度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A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263238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PRISMA 27/27（NMA 32/32）、readiness ≥ 95%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A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576072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6B7C7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Agent Teams 模式下，這些閘門由 hooks 在階段轉換時自動執行；單一 session 模式則由 validate_stage_transition.py 產生報告。</a:t>
            </a:r>
            <a:endParaRPr lang="en-US" sz="115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64465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7C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meta-pipe  ·  github.com/htlin222/meta-pipe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10725912" y="64465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C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2E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828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FC5C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CASE STUDY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範例專案：免疫檢查點抑制劑於三陰性乳癌（新輔助）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3483864" cy="1737360"/>
          </a:xfrm>
          <a:prstGeom prst="roundRect">
            <a:avLst>
              <a:gd name="adj" fmla="val 6316"/>
            </a:avLst>
          </a:prstGeom>
          <a:solidFill>
            <a:srgbClr val="143F44"/>
          </a:solidFill>
          <a:ln w="12700">
            <a:solidFill>
              <a:srgbClr val="143F4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645920"/>
            <a:ext cx="293522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36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514600"/>
            <a:ext cx="29352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FC5C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納入 RCT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352544" y="1417320"/>
            <a:ext cx="3483864" cy="1737360"/>
          </a:xfrm>
          <a:prstGeom prst="roundRect">
            <a:avLst>
              <a:gd name="adj" fmla="val 6316"/>
            </a:avLst>
          </a:prstGeom>
          <a:solidFill>
            <a:srgbClr val="143F44"/>
          </a:solidFill>
          <a:ln w="12700">
            <a:solidFill>
              <a:srgbClr val="143F4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626864" y="1645920"/>
            <a:ext cx="293522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2,402</a:t>
            </a:r>
            <a:endParaRPr lang="en-US" sz="3600" dirty="0"/>
          </a:p>
        </p:txBody>
      </p:sp>
      <p:sp>
        <p:nvSpPr>
          <p:cNvPr id="9" name="Text 7"/>
          <p:cNvSpPr txBox="1"/>
          <p:nvPr/>
        </p:nvSpPr>
        <p:spPr>
          <a:xfrm>
            <a:off x="4626864" y="2514600"/>
            <a:ext cx="29352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FC5C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病人數 N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156448" y="1417320"/>
            <a:ext cx="3483864" cy="1737360"/>
          </a:xfrm>
          <a:prstGeom prst="roundRect">
            <a:avLst>
              <a:gd name="adj" fmla="val 6316"/>
            </a:avLst>
          </a:prstGeom>
          <a:solidFill>
            <a:srgbClr val="143F44"/>
          </a:solidFill>
          <a:ln w="12700">
            <a:solidFill>
              <a:srgbClr val="143F44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430768" y="1645920"/>
            <a:ext cx="293522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RR 1.26</a:t>
            </a:r>
            <a:endParaRPr lang="en-US" sz="3600" dirty="0"/>
          </a:p>
        </p:txBody>
      </p:sp>
      <p:sp>
        <p:nvSpPr>
          <p:cNvPr id="12" name="Text 10"/>
          <p:cNvSpPr txBox="1"/>
          <p:nvPr/>
        </p:nvSpPr>
        <p:spPr>
          <a:xfrm>
            <a:off x="8430768" y="2514600"/>
            <a:ext cx="29352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FC5C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pCR，95% CI 1.16–1.37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3474720"/>
            <a:ext cx="3483864" cy="1737360"/>
          </a:xfrm>
          <a:prstGeom prst="roundRect">
            <a:avLst>
              <a:gd name="adj" fmla="val 6316"/>
            </a:avLst>
          </a:prstGeom>
          <a:solidFill>
            <a:srgbClr val="143F44"/>
          </a:solidFill>
          <a:ln w="12700">
            <a:solidFill>
              <a:srgbClr val="143F44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22960" y="3703320"/>
            <a:ext cx="293522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⊕⊕⊕⊕</a:t>
            </a:r>
            <a:endParaRPr lang="en-US" sz="3600" dirty="0"/>
          </a:p>
        </p:txBody>
      </p:sp>
      <p:sp>
        <p:nvSpPr>
          <p:cNvPr id="15" name="Text 13"/>
          <p:cNvSpPr txBox="1"/>
          <p:nvPr/>
        </p:nvSpPr>
        <p:spPr>
          <a:xfrm>
            <a:off x="822960" y="4572000"/>
            <a:ext cx="29352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FC5C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GRADE 證據品質 HIGH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352544" y="3474720"/>
            <a:ext cx="3483864" cy="1737360"/>
          </a:xfrm>
          <a:prstGeom prst="roundRect">
            <a:avLst>
              <a:gd name="adj" fmla="val 6316"/>
            </a:avLst>
          </a:prstGeom>
          <a:solidFill>
            <a:srgbClr val="143F44"/>
          </a:solidFill>
          <a:ln w="12700">
            <a:solidFill>
              <a:srgbClr val="143F44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626864" y="3703320"/>
            <a:ext cx="293522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4,921 字</a:t>
            </a:r>
            <a:endParaRPr lang="en-US" sz="3600" dirty="0"/>
          </a:p>
        </p:txBody>
      </p:sp>
      <p:sp>
        <p:nvSpPr>
          <p:cNvPr id="18" name="Text 16"/>
          <p:cNvSpPr txBox="1"/>
          <p:nvPr/>
        </p:nvSpPr>
        <p:spPr>
          <a:xfrm>
            <a:off x="4626864" y="4572000"/>
            <a:ext cx="29352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FC5C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符合 Lancet Oncology 字數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8156448" y="3474720"/>
            <a:ext cx="3483864" cy="1737360"/>
          </a:xfrm>
          <a:prstGeom prst="roundRect">
            <a:avLst>
              <a:gd name="adj" fmla="val 6316"/>
            </a:avLst>
          </a:prstGeom>
          <a:solidFill>
            <a:srgbClr val="143F44"/>
          </a:solidFill>
          <a:ln w="12700">
            <a:solidFill>
              <a:srgbClr val="143F44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430768" y="3703320"/>
            <a:ext cx="293522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E457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~14 小時</a:t>
            </a:r>
            <a:endParaRPr lang="en-US" sz="3400" dirty="0"/>
          </a:p>
        </p:txBody>
      </p:sp>
      <p:sp>
        <p:nvSpPr>
          <p:cNvPr id="21" name="Text 19"/>
          <p:cNvSpPr txBox="1"/>
          <p:nvPr/>
        </p:nvSpPr>
        <p:spPr>
          <a:xfrm>
            <a:off x="8430768" y="4572000"/>
            <a:ext cx="29352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FC5C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從 TOPIC.txt 到手稿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548640" y="571500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9FC5C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檔案位置：projects/ici-breast-cancer/  ·  從 00_overview 到 09_qa 完整保留，可作為新專案範本。</a:t>
            </a: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548640" y="64465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7FA8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meta-pipe  ·  github.com/htlin222/meta-pipe</a:t>
            </a:r>
            <a:endParaRPr lang="en-US" sz="900" dirty="0"/>
          </a:p>
        </p:txBody>
      </p:sp>
      <p:sp>
        <p:nvSpPr>
          <p:cNvPr id="24" name="Text 22"/>
          <p:cNvSpPr txBox="1"/>
          <p:nvPr/>
        </p:nvSpPr>
        <p:spPr>
          <a:xfrm>
            <a:off x="10725912" y="64465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7FA8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828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C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TIME INVESTMENT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B2E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各階段時間投資（小時）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371600"/>
          <a:ext cx="6949440" cy="4572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955280" y="1371600"/>
            <a:ext cx="3657600" cy="1554480"/>
          </a:xfrm>
          <a:prstGeom prst="roundRect">
            <a:avLst>
              <a:gd name="adj" fmla="val 7059"/>
            </a:avLst>
          </a:prstGeom>
          <a:solidFill>
            <a:srgbClr val="0B2E33"/>
          </a:solidFill>
          <a:ln w="12700">
            <a:solidFill>
              <a:srgbClr val="0B2E33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229600" y="150876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E457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22–32 小時</a:t>
            </a:r>
            <a:endParaRPr lang="en-US" sz="3200" dirty="0"/>
          </a:p>
        </p:txBody>
      </p:sp>
      <p:sp>
        <p:nvSpPr>
          <p:cNvPr id="7" name="Text 4"/>
          <p:cNvSpPr txBox="1"/>
          <p:nvPr/>
        </p:nvSpPr>
        <p:spPr>
          <a:xfrm>
            <a:off x="8229600" y="22402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FC5C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端到端總時數（一般專案）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7955280" y="3154680"/>
            <a:ext cx="36576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6323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Stage 05 以 LLM 輔助可縮至 2–3 小時（節省 65%）</a:t>
            </a:r>
            <a:endParaRPr lang="en-US" sz="12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6323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關鍵路徑是 05 → 07：分析到手稿約 10–14 小時</a:t>
            </a:r>
            <a:endParaRPr lang="en-US" sz="12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6323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07 手稿是最耗時階段，因此有「大綱先核准」機制避免返工</a:t>
            </a:r>
            <a:endParaRPr lang="en-US" sz="12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6323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臨床詮釋、討論重點與作者聲明仍由人負責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64465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7C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meta-pipe  ·  github.com/htlin222/meta-pipe</a:t>
            </a:r>
            <a:endParaRPr lang="en-US" sz="900" dirty="0"/>
          </a:p>
        </p:txBody>
      </p:sp>
      <p:sp>
        <p:nvSpPr>
          <p:cNvPr id="10" name="Text 7"/>
          <p:cNvSpPr txBox="1"/>
          <p:nvPr/>
        </p:nvSpPr>
        <p:spPr>
          <a:xfrm>
            <a:off x="10725912" y="64465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C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828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C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AGENT TEAMS  ·  EXPERIMENTAL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B2E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平行模式：多個 Claude Code 分工協作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2498598" cy="3017520"/>
          </a:xfrm>
          <a:prstGeom prst="roundRect">
            <a:avLst>
              <a:gd name="adj" fmla="val 4392"/>
            </a:avLst>
          </a:prstGeom>
          <a:solidFill>
            <a:srgbClr val="E6F0EE"/>
          </a:solidFill>
          <a:ln w="12700">
            <a:solidFill>
              <a:srgbClr val="E6F0E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508760"/>
            <a:ext cx="204139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B2E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1828800"/>
            <a:ext cx="20413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6B7C7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循序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777240" y="2286000"/>
            <a:ext cx="2041398" cy="502920"/>
          </a:xfrm>
          <a:prstGeom prst="roundRect">
            <a:avLst>
              <a:gd name="adj" fmla="val 2181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77240" y="2286000"/>
            <a:ext cx="204139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F52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protocol-architect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777240" y="2926080"/>
            <a:ext cx="2041398" cy="502920"/>
          </a:xfrm>
          <a:prstGeom prst="roundRect">
            <a:avLst>
              <a:gd name="adj" fmla="val 2181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77240" y="2926080"/>
            <a:ext cx="204139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F52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search-specialist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102102" y="2743200"/>
            <a:ext cx="256032" cy="274320"/>
          </a:xfrm>
          <a:prstGeom prst="rightArrow">
            <a:avLst/>
          </a:prstGeom>
          <a:solidFill>
            <a:srgbClr val="1C7C82"/>
          </a:solidFill>
          <a:ln w="12700">
            <a:solidFill>
              <a:srgbClr val="1C7C8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412998" y="1371600"/>
            <a:ext cx="2498598" cy="3017520"/>
          </a:xfrm>
          <a:prstGeom prst="roundRect">
            <a:avLst>
              <a:gd name="adj" fmla="val 4392"/>
            </a:avLst>
          </a:prstGeom>
          <a:solidFill>
            <a:srgbClr val="E6F0EE"/>
          </a:solidFill>
          <a:ln w="12700">
            <a:solidFill>
              <a:srgbClr val="E6F0E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641598" y="1508760"/>
            <a:ext cx="204139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B2E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3641598" y="1828800"/>
            <a:ext cx="20413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E457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平行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41598" y="2286000"/>
            <a:ext cx="2041398" cy="502920"/>
          </a:xfrm>
          <a:prstGeom prst="roundRect">
            <a:avLst>
              <a:gd name="adj" fmla="val 21818"/>
            </a:avLst>
          </a:prstGeom>
          <a:solidFill>
            <a:srgbClr val="0B2E33"/>
          </a:solidFill>
          <a:ln w="12700">
            <a:solidFill>
              <a:srgbClr val="0B2E33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3641598" y="2286000"/>
            <a:ext cx="204139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screener-a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3641598" y="2926080"/>
            <a:ext cx="2041398" cy="502920"/>
          </a:xfrm>
          <a:prstGeom prst="roundRect">
            <a:avLst>
              <a:gd name="adj" fmla="val 21818"/>
            </a:avLst>
          </a:prstGeom>
          <a:solidFill>
            <a:srgbClr val="0B2E33"/>
          </a:solidFill>
          <a:ln w="12700">
            <a:solidFill>
              <a:srgbClr val="0B2E33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3641598" y="2926080"/>
            <a:ext cx="204139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screener-b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966460" y="2743200"/>
            <a:ext cx="256032" cy="274320"/>
          </a:xfrm>
          <a:prstGeom prst="rightArrow">
            <a:avLst/>
          </a:prstGeom>
          <a:solidFill>
            <a:srgbClr val="1C7C82"/>
          </a:solidFill>
          <a:ln w="12700">
            <a:solidFill>
              <a:srgbClr val="1C7C8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277356" y="1371600"/>
            <a:ext cx="2498598" cy="3017520"/>
          </a:xfrm>
          <a:prstGeom prst="roundRect">
            <a:avLst>
              <a:gd name="adj" fmla="val 4392"/>
            </a:avLst>
          </a:prstGeom>
          <a:solidFill>
            <a:srgbClr val="E6F0EE"/>
          </a:solidFill>
          <a:ln w="12700">
            <a:solidFill>
              <a:srgbClr val="E6F0EE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505956" y="1508760"/>
            <a:ext cx="204139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B2E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3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6505956" y="1828800"/>
            <a:ext cx="20413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6B7C7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循序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505956" y="2286000"/>
            <a:ext cx="2041398" cy="502920"/>
          </a:xfrm>
          <a:prstGeom prst="roundRect">
            <a:avLst>
              <a:gd name="adj" fmla="val 2181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505956" y="2286000"/>
            <a:ext cx="204139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F52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fulltext-manager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6505956" y="2926080"/>
            <a:ext cx="2041398" cy="502920"/>
          </a:xfrm>
          <a:prstGeom prst="roundRect">
            <a:avLst>
              <a:gd name="adj" fmla="val 2181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505956" y="2926080"/>
            <a:ext cx="204139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F52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data-extractor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6505956" y="3566160"/>
            <a:ext cx="2041398" cy="502920"/>
          </a:xfrm>
          <a:prstGeom prst="roundRect">
            <a:avLst>
              <a:gd name="adj" fmla="val 2181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505956" y="3566160"/>
            <a:ext cx="204139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F52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statistician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8830818" y="2743200"/>
            <a:ext cx="256032" cy="274320"/>
          </a:xfrm>
          <a:prstGeom prst="rightArrow">
            <a:avLst/>
          </a:prstGeom>
          <a:solidFill>
            <a:srgbClr val="1C7C82"/>
          </a:solidFill>
          <a:ln w="12700">
            <a:solidFill>
              <a:srgbClr val="1C7C8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9141714" y="1371600"/>
            <a:ext cx="2498598" cy="3017520"/>
          </a:xfrm>
          <a:prstGeom prst="roundRect">
            <a:avLst>
              <a:gd name="adj" fmla="val 4392"/>
            </a:avLst>
          </a:prstGeom>
          <a:solidFill>
            <a:srgbClr val="E6F0EE"/>
          </a:solidFill>
          <a:ln w="12700">
            <a:solidFill>
              <a:srgbClr val="E6F0EE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9370314" y="1508760"/>
            <a:ext cx="204139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B2E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4</a:t>
            </a:r>
            <a:endParaRPr lang="en-US" sz="1500" dirty="0"/>
          </a:p>
        </p:txBody>
      </p:sp>
      <p:sp>
        <p:nvSpPr>
          <p:cNvPr id="32" name="Text 30"/>
          <p:cNvSpPr txBox="1"/>
          <p:nvPr/>
        </p:nvSpPr>
        <p:spPr>
          <a:xfrm>
            <a:off x="9370314" y="1828800"/>
            <a:ext cx="20413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E457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平行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9370314" y="2286000"/>
            <a:ext cx="2041398" cy="502920"/>
          </a:xfrm>
          <a:prstGeom prst="roundRect">
            <a:avLst>
              <a:gd name="adj" fmla="val 21818"/>
            </a:avLst>
          </a:prstGeom>
          <a:solidFill>
            <a:srgbClr val="0B2E33"/>
          </a:solidFill>
          <a:ln w="12700">
            <a:solidFill>
              <a:srgbClr val="0B2E33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9370314" y="2286000"/>
            <a:ext cx="204139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manuscript-writer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9370314" y="2926080"/>
            <a:ext cx="2041398" cy="502920"/>
          </a:xfrm>
          <a:prstGeom prst="roundRect">
            <a:avLst>
              <a:gd name="adj" fmla="val 21818"/>
            </a:avLst>
          </a:prstGeom>
          <a:solidFill>
            <a:srgbClr val="0B2E33"/>
          </a:solidFill>
          <a:ln w="12700">
            <a:solidFill>
              <a:srgbClr val="0B2E33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9370314" y="2926080"/>
            <a:ext cx="204139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qa-auditor</a:t>
            </a:r>
            <a:endParaRPr lang="en-US" sz="1150" dirty="0"/>
          </a:p>
        </p:txBody>
      </p:sp>
      <p:sp>
        <p:nvSpPr>
          <p:cNvPr id="37" name="Text 35"/>
          <p:cNvSpPr txBox="1"/>
          <p:nvPr/>
        </p:nvSpPr>
        <p:spPr>
          <a:xfrm>
            <a:off x="548640" y="4663440"/>
            <a:ext cx="1109167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6323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Lead 讀取 /ma-agent-teams 劇本，建立共享任務清單並依相依順序生成 teammates</a:t>
            </a:r>
            <a:endParaRPr lang="en-US" sz="12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6323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每個 teammate 只擁有自己的目錄（如 statistician 只寫 06_analysis/**），避免互相覆寫</a:t>
            </a:r>
            <a:endParaRPr lang="en-US" sz="12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6323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screener-a 與 screener-b 完成前禁止互通訊息，確保雙人篩選真正獨立</a:t>
            </a:r>
            <a:endParaRPr lang="en-US" sz="12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6323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統計與手稿角色使用 Opus，其餘使用 Sonnet；hooks 在階段轉換時自動執行品質閘門</a:t>
            </a:r>
            <a:endParaRPr lang="en-US" sz="1200" dirty="0"/>
          </a:p>
        </p:txBody>
      </p:sp>
      <p:sp>
        <p:nvSpPr>
          <p:cNvPr id="38" name="Text 36"/>
          <p:cNvSpPr txBox="1"/>
          <p:nvPr/>
        </p:nvSpPr>
        <p:spPr>
          <a:xfrm>
            <a:off x="548640" y="64465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7C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meta-pipe  ·  github.com/htlin222/meta-pipe</a:t>
            </a:r>
            <a:endParaRPr lang="en-US" sz="900" dirty="0"/>
          </a:p>
        </p:txBody>
      </p:sp>
      <p:sp>
        <p:nvSpPr>
          <p:cNvPr id="39" name="Text 37"/>
          <p:cNvSpPr txBox="1"/>
          <p:nvPr/>
        </p:nvSpPr>
        <p:spPr>
          <a:xfrm>
            <a:off x="10725912" y="64465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C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828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C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DIVISION OF LABOR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B2E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人機分工：AI 做結構，人做判斷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5317236" cy="3931920"/>
          </a:xfrm>
          <a:prstGeom prst="roundRect">
            <a:avLst>
              <a:gd name="adj" fmla="val 2791"/>
            </a:avLst>
          </a:prstGeom>
          <a:solidFill>
            <a:srgbClr val="E6F0EE"/>
          </a:solidFill>
          <a:ln w="12700">
            <a:solidFill>
              <a:srgbClr val="E6F0E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1554480"/>
            <a:ext cx="46771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F525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Claude 負責（節省 60–80% 時間）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194560"/>
            <a:ext cx="4677156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6323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搜尋策略、去重、雙人篩選初判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6323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PDF 取得與文字抽取、結構化資料萃取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6323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 腳本產生、圖表與多面板組圖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6323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手稿架構、表格模板、參考文獻管理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6323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PRISMA 檢核表填寫、過度宣稱偵測、交叉引用檢查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6323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進度追蹤、session log、checkpoint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323076" y="1371600"/>
            <a:ext cx="5317236" cy="3931920"/>
          </a:xfrm>
          <a:prstGeom prst="roundRect">
            <a:avLst>
              <a:gd name="adj" fmla="val 2791"/>
            </a:avLst>
          </a:prstGeom>
          <a:solidFill>
            <a:srgbClr val="0B2E33"/>
          </a:solidFill>
          <a:ln w="12700">
            <a:solidFill>
              <a:srgbClr val="0B2E3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643116" y="1554480"/>
            <a:ext cx="46771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E457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人負責（需要領域專業）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6643116" y="2194560"/>
            <a:ext cx="4677156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E6F0E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研究問題與 PICO 的臨床意義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E6F0E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可行性評估與分析類型的最終決定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E6F0E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篩選衝突裁決、萃取資料複核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E6F0E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臨床詮釋、討論重點的取捨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E6F0E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圖說的科學細節、作者貢獻與利益衝突聲明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E6F0E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每個閘門的「核准」動作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64465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7C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meta-pipe  ·  github.com/htlin222/meta-pipe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10725912" y="64465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C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828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C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GETTING STARTED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B2E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三步驟開始一個新專案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548640" cy="548640"/>
          </a:xfrm>
          <a:prstGeom prst="ellipse">
            <a:avLst/>
          </a:prstGeom>
          <a:solidFill>
            <a:srgbClr val="0F5257"/>
          </a:solidFill>
          <a:ln w="12700">
            <a:solidFill>
              <a:srgbClr val="0F525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508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20" dirty="0"/>
          </a:p>
        </p:txBody>
      </p:sp>
      <p:sp>
        <p:nvSpPr>
          <p:cNvPr id="6" name="Text 4"/>
          <p:cNvSpPr txBox="1"/>
          <p:nvPr/>
        </p:nvSpPr>
        <p:spPr>
          <a:xfrm>
            <a:off x="1371600" y="141732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B2E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建立專案骨架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371600" y="1874520"/>
            <a:ext cx="4206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6323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產生 01_protocol/ … 09_qa/ 與 TOPIC.txt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852160" y="1463040"/>
            <a:ext cx="5760720" cy="685800"/>
          </a:xfrm>
          <a:prstGeom prst="roundRect">
            <a:avLst>
              <a:gd name="adj" fmla="val 16000"/>
            </a:avLst>
          </a:prstGeom>
          <a:solidFill>
            <a:srgbClr val="0B2E33"/>
          </a:solidFill>
          <a:ln w="12700">
            <a:solidFill>
              <a:srgbClr val="0B2E3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080760" y="1463040"/>
            <a:ext cx="5394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6F0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uv run tooling/python/init_project.py --name my-ma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2880360"/>
            <a:ext cx="548640" cy="548640"/>
          </a:xfrm>
          <a:prstGeom prst="ellipse">
            <a:avLst/>
          </a:prstGeom>
          <a:solidFill>
            <a:srgbClr val="0F5257"/>
          </a:solidFill>
          <a:ln w="12700">
            <a:solidFill>
              <a:srgbClr val="0F5257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48640" y="28803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20" dirty="0"/>
          </a:p>
        </p:txBody>
      </p:sp>
      <p:sp>
        <p:nvSpPr>
          <p:cNvPr id="12" name="Text 10"/>
          <p:cNvSpPr txBox="1"/>
          <p:nvPr/>
        </p:nvSpPr>
        <p:spPr>
          <a:xfrm>
            <a:off x="1371600" y="278892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B2E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寫下研究問題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1371600" y="3246120"/>
            <a:ext cx="4206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6323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貼上主題、族群、介入、比較與結局；沒有題目可先說「brainstorm」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852160" y="2834640"/>
            <a:ext cx="5760720" cy="685800"/>
          </a:xfrm>
          <a:prstGeom prst="roundRect">
            <a:avLst>
              <a:gd name="adj" fmla="val 16000"/>
            </a:avLst>
          </a:prstGeom>
          <a:solidFill>
            <a:srgbClr val="0B2E33"/>
          </a:solidFill>
          <a:ln w="12700">
            <a:solidFill>
              <a:srgbClr val="0B2E33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080760" y="2834640"/>
            <a:ext cx="5394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6F0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projects/my-ma/TOPIC.txt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4251960"/>
            <a:ext cx="548640" cy="548640"/>
          </a:xfrm>
          <a:prstGeom prst="ellipse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48640" y="42519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20" dirty="0"/>
          </a:p>
        </p:txBody>
      </p:sp>
      <p:sp>
        <p:nvSpPr>
          <p:cNvPr id="18" name="Text 16"/>
          <p:cNvSpPr txBox="1"/>
          <p:nvPr/>
        </p:nvSpPr>
        <p:spPr>
          <a:xfrm>
            <a:off x="1371600" y="416052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B2E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對 Claude Code 說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1371600" y="4617720"/>
            <a:ext cx="4206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6323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之後用「continue」「status」續接，Stage 06 後說「complete manuscript」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852160" y="4206240"/>
            <a:ext cx="5760720" cy="685800"/>
          </a:xfrm>
          <a:prstGeom prst="roundRect">
            <a:avLst>
              <a:gd name="adj" fmla="val 16000"/>
            </a:avLst>
          </a:prstGeom>
          <a:solidFill>
            <a:srgbClr val="0B2E33"/>
          </a:solidFill>
          <a:ln w="12700">
            <a:solidFill>
              <a:srgbClr val="0B2E33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080760" y="4206240"/>
            <a:ext cx="5394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6F0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"Start project my-ma"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48640" y="5577840"/>
            <a:ext cx="11091672" cy="685800"/>
          </a:xfrm>
          <a:prstGeom prst="roundRect">
            <a:avLst>
              <a:gd name="adj" fmla="val 16000"/>
            </a:avLst>
          </a:prstGeom>
          <a:solidFill>
            <a:srgbClr val="E6F0EE"/>
          </a:solidFill>
          <a:ln w="12700">
            <a:solidFill>
              <a:srgbClr val="E6F0EE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822960" y="5577840"/>
            <a:ext cx="105430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6323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環境需求：uv（Python ≥ 3.12）· R ≥ 4.2 + renv · Quarto · .env 內的 API 金鑰   |   一次性安裝 bash setup.sh，隨時用 bash verify_environment.sh 檢查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548640" y="64465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7C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meta-pipe  ·  github.com/htlin222/meta-pipe</a:t>
            </a:r>
            <a:endParaRPr lang="en-US" sz="900" dirty="0"/>
          </a:p>
        </p:txBody>
      </p:sp>
      <p:sp>
        <p:nvSpPr>
          <p:cNvPr id="25" name="Text 23"/>
          <p:cNvSpPr txBox="1"/>
          <p:nvPr/>
        </p:nvSpPr>
        <p:spPr>
          <a:xfrm>
            <a:off x="10725912" y="64465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C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B2E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828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FC5C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TAKEAWAYS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帶走三件事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48640" cy="548640"/>
          </a:xfrm>
          <a:prstGeom prst="ellipse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554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20" dirty="0"/>
          </a:p>
        </p:txBody>
      </p:sp>
      <p:sp>
        <p:nvSpPr>
          <p:cNvPr id="6" name="Text 4"/>
          <p:cNvSpPr txBox="1"/>
          <p:nvPr/>
        </p:nvSpPr>
        <p:spPr>
          <a:xfrm>
            <a:off x="1371600" y="1536192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一條線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4114800" y="160020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6F0E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TOPIC.txt 進、手稿出，11 個階段各有 skill、輸出與閘門。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2743200"/>
            <a:ext cx="548640" cy="548640"/>
          </a:xfrm>
          <a:prstGeom prst="ellipse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48640" y="27432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20" dirty="0"/>
          </a:p>
        </p:txBody>
      </p:sp>
      <p:sp>
        <p:nvSpPr>
          <p:cNvPr id="10" name="Text 8"/>
          <p:cNvSpPr txBox="1"/>
          <p:nvPr/>
        </p:nvSpPr>
        <p:spPr>
          <a:xfrm>
            <a:off x="1371600" y="2724912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可重現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4114800" y="278892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6F0E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uv、renv、Quarto 鎖定環境；round 制保留每一輪決策，可審計、可回溯。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3931920"/>
            <a:ext cx="548640" cy="548640"/>
          </a:xfrm>
          <a:prstGeom prst="ellipse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48640" y="39319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20" dirty="0"/>
          </a:p>
        </p:txBody>
      </p:sp>
      <p:sp>
        <p:nvSpPr>
          <p:cNvPr id="14" name="Text 12"/>
          <p:cNvSpPr txBox="1"/>
          <p:nvPr/>
        </p:nvSpPr>
        <p:spPr>
          <a:xfrm>
            <a:off x="1371600" y="3913632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人在迴圈</a:t>
            </a:r>
            <a:endParaRPr lang="en-US" sz="2200" dirty="0"/>
          </a:p>
        </p:txBody>
      </p:sp>
      <p:sp>
        <p:nvSpPr>
          <p:cNvPr id="15" name="Text 13"/>
          <p:cNvSpPr txBox="1"/>
          <p:nvPr/>
        </p:nvSpPr>
        <p:spPr>
          <a:xfrm>
            <a:off x="4114800" y="397764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6F0E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 做結構與草稿，臨床判斷與每個核准仍由研究者掌握。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48640" y="5212080"/>
            <a:ext cx="11091672" cy="914400"/>
          </a:xfrm>
          <a:prstGeom prst="roundRect">
            <a:avLst>
              <a:gd name="adj" fmla="val 12000"/>
            </a:avLst>
          </a:prstGeom>
          <a:solidFill>
            <a:srgbClr val="143F44"/>
          </a:solidFill>
          <a:ln w="12700">
            <a:solidFill>
              <a:srgbClr val="143F44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22960" y="5212080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github.com/htlin222/meta-pipe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6035040" y="5212080"/>
            <a:ext cx="5577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FC5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 HT, Yeh JT. meta-pipe: AI-assisted, end-to-end meta-analysis pipeline with reproducible tooling. 2026.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64465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7FA8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meta-pipe  ·  github.com/htlin222/meta-pipe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10725912" y="64465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7FA8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meta-pipe workflow</dc:title>
  <dc:subject>PptxGenJS Presentation</dc:subject>
  <dc:creator>meta-pipe</dc:creator>
  <cp:lastModifiedBy>meta-pipe</cp:lastModifiedBy>
  <cp:revision>1</cp:revision>
  <dcterms:created xsi:type="dcterms:W3CDTF">2026-09-03T15:55:10Z</dcterms:created>
  <dcterms:modified xsi:type="dcterms:W3CDTF">2026-09-03T15:55:10Z</dcterms:modified>
</cp:coreProperties>
</file>