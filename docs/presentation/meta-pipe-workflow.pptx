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Lower estimate</c:v>
                </c:pt>
              </c:strCache>
            </c:strRef>
          </c:tx>
          <c:spPr>
            <a:solidFill>
              <a:srgbClr val="9FB3C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01 Protocol</c:v>
                  </c:pt>
                  <c:pt idx="1">
                    <c:v>02 Search</c:v>
                  </c:pt>
                  <c:pt idx="2">
                    <c:v>03 Screening</c:v>
                  </c:pt>
                  <c:pt idx="3">
                    <c:v>04 Full text</c:v>
                  </c:pt>
                  <c:pt idx="4">
                    <c:v>05 Extraction</c:v>
                  </c:pt>
                  <c:pt idx="5">
                    <c:v>06 Analysis</c:v>
                  </c:pt>
                  <c:pt idx="6">
                    <c:v>07 Manuscript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2</c:v>
                </c:pt>
                <c:pt idx="4">
                  <c:v>4</c:v>
                </c:pt>
                <c:pt idx="5">
                  <c:v>4</c:v>
                </c:pt>
                <c:pt idx="6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Upper estimate</c:v>
                </c:pt>
              </c:strCache>
            </c:strRef>
          </c:tx>
          <c:spPr>
            <a:solidFill>
              <a:srgbClr val="1F4E7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01 Protocol</c:v>
                  </c:pt>
                  <c:pt idx="1">
                    <c:v>02 Search</c:v>
                  </c:pt>
                  <c:pt idx="2">
                    <c:v>03 Screening</c:v>
                  </c:pt>
                  <c:pt idx="3">
                    <c:v>04 Full text</c:v>
                  </c:pt>
                  <c:pt idx="4">
                    <c:v>05 Extraction</c:v>
                  </c:pt>
                  <c:pt idx="5">
                    <c:v>06 Analysis</c:v>
                  </c:pt>
                  <c:pt idx="6">
                    <c:v>07 Manuscript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4</c:v>
                </c:pt>
                <c:pt idx="4">
                  <c:v>6</c:v>
                </c:pt>
                <c:pt idx="5">
                  <c:v>5</c:v>
                </c:pt>
                <c:pt idx="6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293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F29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0"/>
        </c:scaling>
        <c:delete val="0"/>
        <c:axPos val="l"/>
        <c:majorGridlines>
          <c:spPr>
            <a:ln w="6350" cap="flat">
              <a:solidFill>
                <a:srgbClr val="E3E8ED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50" b="0" i="0" u="none" strike="noStrike">
                    <a:solidFill>
                      <a:srgbClr val="5B6770"/>
                    </a:solidFill>
                    <a:latin typeface="Calibri"/>
                  </a:defRPr>
                </a:pPr>
                <a:r>
                  <a:rPr sz="1050" b="0" i="0" u="none" strike="noStrike">
                    <a:solidFill>
                      <a:srgbClr val="5B6770"/>
                    </a:solidFill>
                    <a:latin typeface="Calibri"/>
                  </a:rPr>
                  <a:t>Hours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77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Overview of the pipeline architecture, its quality controls, one worked example, and current limitations. The software and the example project are public.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recurring problems in systematic reviews, and the corresponding design decisions. The pipeline does not change the methodology; it enforces its documentation.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principles. The second is the distinctive one: the behaviour of the agent is specified in files that are reviewed and versioned like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left to right. Stage 03 is the only stage designed for two independent reviewers; stages 07–09 can proceed in parallel once analysis is complete.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feasibility gate is deliberately early and time-boxed. The analysis type is provisional at this point; it is confirmed at stage 03b once the design mix of included studies is known.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independent passes are required by design. The 03b gate is where the NMA versus pairwise decision is made explicit and documented, rather than left implicit in the analysis script.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3 is not optional. The model produces a first pass; the investigator verifies every extracted value against the source. Figures in the right-hand box are from one project's log and should not be generalised.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routing is data-driven: the value written at stage 03b selects the script set. The NMA path includes a statistical transitivity check in addition to the qualitative assessment at 03b.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controls are worth noting: outline approval before drafting at stage 07, and the claim audit at stage 09, which flags language stronger than the evidence supports.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thresholds are conventional (kappa 0.60 as substantial agreement; 300 dpi as a common journal minimum). The point is that they are checked mechanically and recorded.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benchmark tests whether the analysis scripts reproduce published pooled estimates. It says nothing about screening or extraction accuracy; those are addressed by the dual-review gates and investigator verification.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example is complete and public. Note two caveats: the OS estimate is from two trials only, and screening was single-pass, which the current pipeline would not permit.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single-project estimates recorded in the repository's time guidance, not a measured distribution. Treat them as indicative.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produces drafts and structure. Every methodological judgement and every gate approval is made by the investigator and is recorded in the decision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these plainly. The strongest claim the current evidence supports is that the pipeline enforces documentation and reproducibility; efficiency claims rest on one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shown is in the repository, including the example project with all intermediate artefacts.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630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meta-pipe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317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AI-assisted, reproducible pipeline for systematic review and meta-analysis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3520440"/>
            <a:ext cx="10908792" cy="0"/>
          </a:xfrm>
          <a:prstGeom prst="line">
            <a:avLst/>
          </a:prstGeom>
          <a:noFill/>
          <a:ln w="12700">
            <a:solidFill>
              <a:srgbClr val="C8D0D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3749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Hsieh-Ting Lin, Jiunn-Tyng Yeh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1605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 and example project: github.com/htlin222/meta-pipe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4805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and non-commercial use licence  · 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formalise the review workflow as a pipeline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Labour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108960" y="1417320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Searching, de-duplication, dual screening, and extraction are repetitive, high-volume tasks in which errors propagate to the pooled estimate.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Reporting standards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3108960" y="2788920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2020 (27 items; 32 for network meta-analysis), GRADE, and RoB 2 or ROBINS-I each impose their own documentation requirements.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160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Reproducibility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108960" y="4160520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are typically dispersed across spreadsheets and e-mail. Months later, the reason a study was included or excluded is often unrecoverable.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0" y="1417320"/>
            <a:ext cx="3794760" cy="361188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response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103120"/>
            <a:ext cx="32918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writes a fixed set of artefacts to a numbered directory.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is specified in a version-controlled skill file that the agent executes.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Transitions between stages are conditional on quantitative quality gates.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search and screening round is retained; nothing is overwritten.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meta-pipe  ·  github.com/htlin222/meta-pipe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63447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principles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5271516" cy="205740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64592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Stage-wise artefacts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03120"/>
            <a:ext cx="47228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numbered stages (00–10). Each has defined inputs, outputs, and a completion checklist in 09_qa/pipeline-checklist.md.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77356" y="1417320"/>
            <a:ext cx="5271516" cy="205740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1676" y="164592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Executable protocols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551676" y="2103120"/>
            <a:ext cx="47228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is described in a SKILL.md file: commands, validation criteria, expected outputs. The agent follows the file rather than improvising.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749040"/>
            <a:ext cx="5271516" cy="205740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397764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gates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4434840"/>
            <a:ext cx="47228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Inter-rater agreement, figure resolution, checklist completion, and a readiness score must reach preset thresholds before the next stage begins.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77356" y="3749040"/>
            <a:ext cx="5271516" cy="205740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51676" y="397764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tool chain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551676" y="4434840"/>
            <a:ext cx="47228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via uv, R via renv (renv.lock), manuscripts via Quarto. Artefacts are hashed (SHA-256) and checkpointed before major steps.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meta-pipe  ·  github.com/htlin222/meta-pipe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63447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Stages and principal artefacts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2452878" cy="448056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508760"/>
            <a:ext cx="19956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828800"/>
            <a:ext cx="19956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" y="2286000"/>
            <a:ext cx="457200" cy="2926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28600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267712"/>
            <a:ext cx="14470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intake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560320"/>
            <a:ext cx="14470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7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TOPIC.txt, feasibility report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68680" y="3154680"/>
            <a:ext cx="457200" cy="2926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315468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3136392"/>
            <a:ext cx="14470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429000"/>
            <a:ext cx="14470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7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pico.yaml, eligibility.md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68680" y="4023360"/>
            <a:ext cx="457200" cy="2926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" y="402336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4005072"/>
            <a:ext cx="14470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297680"/>
            <a:ext cx="14470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7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round-01/dedupe.bib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156966" y="3474720"/>
            <a:ext cx="237744" cy="237744"/>
          </a:xfrm>
          <a:prstGeom prst="rightArrow">
            <a:avLst/>
          </a:prstGeom>
          <a:solidFill>
            <a:srgbClr val="C8D0D8"/>
          </a:solidFill>
          <a:ln w="12700">
            <a:solidFill>
              <a:srgbClr val="C8D0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58718" y="1371600"/>
            <a:ext cx="2452878" cy="448056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687318" y="1508760"/>
            <a:ext cx="19956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Screening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687318" y="1828800"/>
            <a:ext cx="19956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review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87318" y="2286000"/>
            <a:ext cx="457200" cy="2926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687318" y="228600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281678" y="2267712"/>
            <a:ext cx="14470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281678" y="2560320"/>
            <a:ext cx="14470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7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decisions.csv, agreement.md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687318" y="3154680"/>
            <a:ext cx="457200" cy="2926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687318" y="315468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281678" y="3136392"/>
            <a:ext cx="14470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text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281678" y="3429000"/>
            <a:ext cx="14470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7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manifest.csv, fulltext_decisions.csv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975604" y="3474720"/>
            <a:ext cx="237744" cy="237744"/>
          </a:xfrm>
          <a:prstGeom prst="rightArrow">
            <a:avLst/>
          </a:prstGeom>
          <a:solidFill>
            <a:srgbClr val="C8D0D8"/>
          </a:solidFill>
          <a:ln w="12700">
            <a:solidFill>
              <a:srgbClr val="C8D0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77356" y="1371600"/>
            <a:ext cx="2452878" cy="448056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505956" y="1508760"/>
            <a:ext cx="19956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Processing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6505956" y="1828800"/>
            <a:ext cx="19956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505956" y="2286000"/>
            <a:ext cx="457200" cy="2926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505956" y="228600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7100316" y="2267712"/>
            <a:ext cx="14470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7100316" y="2560320"/>
            <a:ext cx="14470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7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extraction.csv, data-dictionary.md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505956" y="3154680"/>
            <a:ext cx="457200" cy="2926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505956" y="315468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7100316" y="3136392"/>
            <a:ext cx="14470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7100316" y="3429000"/>
            <a:ext cx="14470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7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figures/, tables/, renv.lock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8794242" y="3474720"/>
            <a:ext cx="237744" cy="237744"/>
          </a:xfrm>
          <a:prstGeom prst="rightArrow">
            <a:avLst/>
          </a:prstGeom>
          <a:solidFill>
            <a:srgbClr val="C8D0D8"/>
          </a:solidFill>
          <a:ln w="12700">
            <a:solidFill>
              <a:srgbClr val="C8D0D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095994" y="1371600"/>
            <a:ext cx="2452878" cy="448056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324594" y="1508760"/>
            <a:ext cx="19956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Synthesis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9324594" y="1828800"/>
            <a:ext cx="19956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manuscript and QA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9324594" y="2286000"/>
            <a:ext cx="457200" cy="2926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324594" y="228600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918954" y="2267712"/>
            <a:ext cx="14470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Manuscript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9918954" y="2560320"/>
            <a:ext cx="14470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7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*.qmd, index.pdf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9324594" y="3154680"/>
            <a:ext cx="457200" cy="2926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324594" y="315468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9918954" y="3136392"/>
            <a:ext cx="14470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9918954" y="3429000"/>
            <a:ext cx="14470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7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grade_summary.csv, rob2_assessment.csv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9324594" y="4023360"/>
            <a:ext cx="457200" cy="2926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324594" y="402336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9918954" y="4005072"/>
            <a:ext cx="14470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9918954" y="4297680"/>
            <a:ext cx="14470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7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final_qa_report.md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9324594" y="4892040"/>
            <a:ext cx="457200" cy="2926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324594" y="489204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61" name="Text 59"/>
          <p:cNvSpPr txBox="1"/>
          <p:nvPr/>
        </p:nvSpPr>
        <p:spPr>
          <a:xfrm>
            <a:off x="9918954" y="4873752"/>
            <a:ext cx="14470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9918954" y="5166360"/>
            <a:ext cx="14470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7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PROSPERO record, journal package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640080" y="59893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layout: projects/&lt;name&gt;/01_protocol … 09_qa. Project directories are excluded from version control except the reference example.</a:t>
            </a:r>
            <a:endParaRPr lang="en-US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64008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meta-pipe  ·  github.com/htlin222/meta-pipe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1063447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 00–02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Topic intake, protocol, and search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90472"/>
            <a:ext cx="502920" cy="2926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904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463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Topic intake and feasibility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87452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feasibility assessment (bounded at four hours) precedes any protocol work: expected number of eligible studies, consistency of outcome definitions, and availability of extractable data. Output: FEASIBILITY_REPORT.md.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044952"/>
            <a:ext cx="502920" cy="2926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04495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017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42900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 recorded in pico.yaml; eligibility criteria, outcomes, and search plan as Markdown. A preliminary analysis type is assigned: two interventions → pairwise; three or more → NMA candidate, pending confirmation after screening.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599432"/>
            <a:ext cx="502920" cy="2926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459943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572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98348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 and Scopus are the minimum (PRISMA requires at least two databases); Embase and Cochrane are optional. Each round is stored under 02_search/round-XX/ with queries.txt, results.bib, dedupe.bib, and log.md.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meta-pipe  ·  github.com/htlin222/meta-pipe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63447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 03–04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Screening, analysis-type confirmation, and full text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1828800" cy="64008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08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423160"/>
            <a:ext cx="1828800" cy="64008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4231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606040" y="1709928"/>
            <a:ext cx="457200" cy="237744"/>
          </a:xfrm>
          <a:prstGeom prst="rightArrow">
            <a:avLst/>
          </a:prstGeom>
          <a:solidFill>
            <a:srgbClr val="C8D0D8"/>
          </a:solidFill>
          <a:ln w="12700">
            <a:solidFill>
              <a:srgbClr val="C8D0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06040" y="2624328"/>
            <a:ext cx="457200" cy="237744"/>
          </a:xfrm>
          <a:prstGeom prst="rightArrow">
            <a:avLst/>
          </a:prstGeom>
          <a:solidFill>
            <a:srgbClr val="C8D0D8"/>
          </a:solidFill>
          <a:ln w="12700">
            <a:solidFill>
              <a:srgbClr val="C8D0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0" y="1783080"/>
            <a:ext cx="17373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1F4E7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0" y="1828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Cohen's κ ≥ 0.60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200400" y="2286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74920" y="2167128"/>
            <a:ext cx="457200" cy="237744"/>
          </a:xfrm>
          <a:prstGeom prst="rightArrow">
            <a:avLst/>
          </a:prstGeom>
          <a:solidFill>
            <a:srgbClr val="C8D0D8"/>
          </a:solidFill>
          <a:ln w="12700">
            <a:solidFill>
              <a:srgbClr val="C8D0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0" y="1783080"/>
            <a:ext cx="1554480" cy="100584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669280" y="17830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resolution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included.bib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703320"/>
            <a:ext cx="6675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screening passes (ai_screen.py, reviewer 1 and 2); decisions and rationale recorded in decisions.csv.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computed with dual_review_agreement.py; the same gate applies to full-text eligibility (stage 04b, PRISMA 2020 item 16).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texts retrieved via Unpaywall and indexed in manifest.csv; only FT_Final_Decision = include proceeds to extraction.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863840" y="1417320"/>
            <a:ext cx="3703320" cy="374904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92440" y="16002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03b — analysis-type confirmation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092440" y="224028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Tabulate study designs among included records.</a:t>
            </a:r>
            <a:endParaRPr lang="en-US" sz="12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network connectivity and transitivity.</a:t>
            </a:r>
            <a:endParaRPr lang="en-US" sz="12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more than 30% of studies are single-arm, downgrade from NMA to pairwise analysis with pooled proportions.</a:t>
            </a:r>
            <a:endParaRPr lang="en-US" sz="12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the decision in analysis-type-decision.md and pico.yaml.</a:t>
            </a:r>
            <a:endParaRPr lang="en-US" sz="12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06 cannot start until analysis_type.confirmed is set.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meta-pipe  ·  github.com/htlin222/meta-pipe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63447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05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extraction with investigator verification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2418588" cy="169164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002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965960"/>
            <a:ext cx="19613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 extraction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651760"/>
            <a:ext cx="19613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7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extract_pdf_text.py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140964" y="2148840"/>
            <a:ext cx="246888" cy="237744"/>
          </a:xfrm>
          <a:prstGeom prst="rightArrow">
            <a:avLst/>
          </a:prstGeom>
          <a:solidFill>
            <a:srgbClr val="C8D0D8"/>
          </a:solidFill>
          <a:ln w="12700">
            <a:solidFill>
              <a:srgbClr val="C8D0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0148" y="1417320"/>
            <a:ext cx="2418588" cy="169164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98748" y="16002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98748" y="1965960"/>
            <a:ext cx="19613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Structured extraction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98748" y="2651760"/>
            <a:ext cx="19613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7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llm_extract_cli.py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71032" y="2148840"/>
            <a:ext cx="246888" cy="237744"/>
          </a:xfrm>
          <a:prstGeom prst="rightArrow">
            <a:avLst/>
          </a:prstGeom>
          <a:solidFill>
            <a:srgbClr val="C8D0D8"/>
          </a:solidFill>
          <a:ln w="12700">
            <a:solidFill>
              <a:srgbClr val="C8D0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0216" y="1417320"/>
            <a:ext cx="2418588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1F4E7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28816" y="16002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28816" y="1965960"/>
            <a:ext cx="19613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Investigator verification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528816" y="2651760"/>
            <a:ext cx="19613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7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 extraction.csv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801100" y="2148840"/>
            <a:ext cx="246888" cy="237744"/>
          </a:xfrm>
          <a:prstGeom prst="rightArrow">
            <a:avLst/>
          </a:prstGeom>
          <a:solidFill>
            <a:srgbClr val="C8D0D8"/>
          </a:solidFill>
          <a:ln w="12700">
            <a:solidFill>
              <a:srgbClr val="C8D0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30284" y="1417320"/>
            <a:ext cx="2418588" cy="169164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58884" y="16002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358884" y="1965960"/>
            <a:ext cx="19613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358884" y="2651760"/>
            <a:ext cx="19613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7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validate_extraction.py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42900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is restricted to studies with FT_Final_Decision = include.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schema is defined in advance (create_extraction_template.py) and documented in data-dictionary.md; a normalised copy is stored as extraction.sqlite.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with low model confidence are flagged (flag_low_confidence.py) for targeted review.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of bias is assessed in the same stage: RoB 2 for randomised trials, ROBINS-I for non-randomised studies.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046720" y="3429000"/>
            <a:ext cx="3520440" cy="233172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75320" y="35661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in the example project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393192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included PDFs were processed.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fields required manual correction.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time approximately 2–3 h versus an estimated 4–6 h manually.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cost under US$5 per review.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meta-pipe  ·  github.com/htlin222/meta-pipe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063447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06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Analysis: routed by confirmed analysis type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5603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1F4E7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002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analysis_type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.confirmed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 flipV="1">
            <a:off x="3200400" y="1837944"/>
            <a:ext cx="1188720" cy="310896"/>
          </a:xfrm>
          <a:prstGeom prst="line">
            <a:avLst/>
          </a:prstGeom>
          <a:noFill/>
          <a:ln w="12700">
            <a:solidFill>
              <a:srgbClr val="C8D0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480560" y="1371600"/>
            <a:ext cx="7068312" cy="932688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09160" y="14813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pairwise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709160" y="17556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Pairwise meta-analysis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1481328"/>
            <a:ext cx="40965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scripts 01–12: pooled estimates, forest and funnel plots, heterogeneity, sensitivity and subgroup analyses, meta-regression.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00400" y="2148840"/>
            <a:ext cx="1188720" cy="786384"/>
          </a:xfrm>
          <a:prstGeom prst="line">
            <a:avLst/>
          </a:prstGeom>
          <a:noFill/>
          <a:ln w="12700">
            <a:solidFill>
              <a:srgbClr val="C8D0D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80560" y="2468880"/>
            <a:ext cx="7068312" cy="932688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709160" y="25786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nma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709160" y="28529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meta-analysis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2578608"/>
            <a:ext cx="40965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nma_01–10: Bayesian NMA, ranking, inconsistency. Extensions: nma_11 component NMA, nma_12 meta-regression, nma_13 transitivity tests.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200400" y="2148840"/>
            <a:ext cx="1188720" cy="1883664"/>
          </a:xfrm>
          <a:prstGeom prst="line">
            <a:avLst/>
          </a:prstGeom>
          <a:noFill/>
          <a:ln w="12700">
            <a:solidFill>
              <a:srgbClr val="C8D0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80560" y="3566160"/>
            <a:ext cx="7068312" cy="932688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36758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pooled_proportion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709160" y="39502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Pooled proportion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223760" y="3675888"/>
            <a:ext cx="40965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Single-arm or proportion data; used when the NMA candidate is downgraded at stage 03b.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200400" y="2148840"/>
            <a:ext cx="1188720" cy="2980944"/>
          </a:xfrm>
          <a:prstGeom prst="line">
            <a:avLst/>
          </a:prstGeom>
          <a:noFill/>
          <a:ln w="12700">
            <a:solidFill>
              <a:srgbClr val="C8D0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0560" y="4663440"/>
            <a:ext cx="7068312" cy="932688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09160" y="477316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narrative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709160" y="50474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Narrative synthesis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7223760" y="4773168"/>
            <a:ext cx="40965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synthesis without pooling when quantitative combination is not appropriate.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306324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with renv; package versions recorded in renv.lock.</a:t>
            </a:r>
            <a:endParaRPr lang="en-US" sz="12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exported at 300 dpi or higher; multi-panel figures assembled with assemble_figures.py.</a:t>
            </a:r>
            <a:endParaRPr lang="en-US" sz="12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in figures/ and tables/ are referenced directly by the manuscript.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meta-pipe  ·  github.com/htlin222/meta-pipe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063447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 07–10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Manuscript, appraisal, quality assurance, submission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2521458" cy="338328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645920"/>
            <a:ext cx="457200" cy="2926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6459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627632"/>
            <a:ext cx="1515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Manuscript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286000"/>
            <a:ext cx="206425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manuscript outline is drafted and approved by the investigator before any section is written.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Sections, tables, and figures assembled in Quarto; rendered to HTML and PDF.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 managed as BibTeX from the outset.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35858" y="1417320"/>
            <a:ext cx="2521458" cy="338328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64458" y="1645920"/>
            <a:ext cx="457200" cy="2926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64458" y="16459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258818" y="1627632"/>
            <a:ext cx="1515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Appraisal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64458" y="2286000"/>
            <a:ext cx="206425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certainty assessment per outcome.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of Findings table.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RoB 2 / ROBINS-I assessments.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31636" y="1417320"/>
            <a:ext cx="2521458" cy="338328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0236" y="1645920"/>
            <a:ext cx="457200" cy="2926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0236" y="16459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054596" y="1627632"/>
            <a:ext cx="1515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assurance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60236" y="2286000"/>
            <a:ext cx="206425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2020 checklist (27 or 32 items) and cross-reference audit.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claim audit against twelve over-statement patterns.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readiness score (0–100%) across eight components.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27414" y="1417320"/>
            <a:ext cx="2521458" cy="338328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56014" y="1645920"/>
            <a:ext cx="457200" cy="2926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56014" y="16459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850374" y="1627632"/>
            <a:ext cx="1515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Submission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256014" y="2286000"/>
            <a:ext cx="206425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PROSPERO registration document.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Journal-specific formatting (word limits, table and figure counts).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consistency checks before the package is assembled.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meta-pipe  ·  github.com/htlin222/meta-pipe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063447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transitions are conditional on preset thresholds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0879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108960"/>
                <a:gridCol w="3566160"/>
                <a:gridCol w="286207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 → 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Feasibility assessment completed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FEASIBILITY_REPORT.md present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feasibility checklist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 → 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Title/abstract screening agreement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Cohen's κ ≥ 0.60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dual_review_agreement.py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03b → 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type confirmed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analysis_type.confirmed set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analysis-type-decision.md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 → 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Full-text screening agreement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Cohen's κ ≥ 0.60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dual_review_agreement.py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 → 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Extraction completeness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included studies extracted and validated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validate_extraction.py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 → 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Figure resolution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300 dpi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validate_stage_transition.py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 → 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Manuscript outline approved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Investigator sign-off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manuscript_outline.md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Reporting and readiness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PRISMA 27/27 (NMA 32/32); readiness ≥ 95%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publication_readiness_score.py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66928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are evaluated by validate_stage_transition.py, which writes 09_qa/stage_transition_report.md. In parallel (agent-team) mode the same checks run as hooks at each hand-off.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meta-pipe  ·  github.com/htlin222/meta-pipe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063447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 against published meta-analyses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3392424" cy="265176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60020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057400"/>
            <a:ext cx="28437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from the CRAN package metadat (over 500 published meta-analyses) are converted to the pipeline's extraction.csv schema.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611880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7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import_metadat.py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096512" y="2606040"/>
            <a:ext cx="237744" cy="237744"/>
          </a:xfrm>
          <a:prstGeom prst="rightArrow">
            <a:avLst/>
          </a:prstGeom>
          <a:solidFill>
            <a:srgbClr val="C8D0D8"/>
          </a:solidFill>
          <a:ln w="12700">
            <a:solidFill>
              <a:srgbClr val="C8D0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98264" y="1417320"/>
            <a:ext cx="3392424" cy="265176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72584" y="160020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72584" y="2057400"/>
            <a:ext cx="28437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stage 06 scripts are run unchanged on the imported data, producing summary estimates, forest plots, and heterogeneity statistics.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672584" y="3611880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7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06_analysis/*.R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854696" y="2606040"/>
            <a:ext cx="237744" cy="237744"/>
          </a:xfrm>
          <a:prstGeom prst="rightArrow">
            <a:avLst/>
          </a:prstGeom>
          <a:solidFill>
            <a:srgbClr val="C8D0D8"/>
          </a:solidFill>
          <a:ln w="12700">
            <a:solidFill>
              <a:srgbClr val="C8D0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56448" y="1417320"/>
            <a:ext cx="3392424" cy="265176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30768" y="160020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430768" y="2057400"/>
            <a:ext cx="28437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estimates and confidence intervals are compared with the values reported in the source publication; discrepancies are reported per dataset.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430768" y="3611880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7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validate_pipeline.py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343400"/>
            <a:ext cx="109087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regression testing of the statistical code path, independent of any single project.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covers stage 06 (pairwise). Search, screening, and extraction are not exercised by this benchmark, since metadat supplies already-extracted data.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suite is run with run_validation_suite.sh; validation projects live under tooling/projects/validation-*/.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meta-pipe  ·  github.com/htlin222/meta-pipe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063447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Neoadjuvant ICI in triple-negative breast cancer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344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randomised trials, 2,402 patients. ICI plus chemotherapy versus chemotherapy alone. Random-effects model (Mantel–Haenszel, Hartung–Knapp).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731520"/>
                <a:gridCol w="1920240"/>
                <a:gridCol w="64008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Trials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 (95% CI)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I²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Pathologic complete response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RR 1.26 (1.16–1.37)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Event-free survival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 0.66 (0.51–0.86)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Overall survival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 0.48 (0.00–128.7)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Serious adverse events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RR 1.50 (1.13–1.98)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4160520"/>
            <a:ext cx="7040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pCR difference 13.8 percentage points (NNT 7). Egger's test p = 0.71. Sensitivity analyses excluding the phase II trial or the negative trial gave RR 1.26 and 1.28.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8046720" y="1737360"/>
            <a:ext cx="3520440" cy="329184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75320" y="1874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record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75320" y="233172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 records after de-duplication; 5 trials included.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Manuscript of 4,921 words with seven tables, within Lancet Oncology limits.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Approximately 14 hours of investigator time recorded end to end.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in this project used a single AI pass; κ was therefore not computed. Later projects use the dual-review gate.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589788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artefacts are in projects/ici-breast-cancer/ (00_overview to 09_qa). Overall survival pooled only two trials; the wide interval reflects the Hartung–Knapp adjustment with k = 2.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meta-pipe  ·  github.com/htlin222/meta-pipe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063447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USE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Investigator time by stage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371600"/>
          <a:ext cx="70408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046720" y="1371600"/>
            <a:ext cx="3520440" cy="448056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75320" y="1554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estimates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75320" y="201168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22–32 hours end to end, from the project log of one completed review.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05 assumes LLM-assisted extraction with verification; manual extraction was estimated at 4–6 hours.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07 is the largest component; the outline-approval step exists to limit rewriting.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exclude stages 08–10 and will vary with the number of included studies.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meta-pipe  ·  github.com/htlin222/meta-pipe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063447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OVERSIGHT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Division of responsibility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5271516" cy="361188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600200"/>
            <a:ext cx="47228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(agent, under skill files)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48840"/>
            <a:ext cx="4722876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strategy drafting, query execution, de-duplication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screening passes and agreement statistics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retrieval, text extraction, first-pass structured extraction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script generation, figure and table production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Manuscript scaffolding, reference management, checklist completion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audit, cross-reference checks, readiness scoring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logging, checkpoints, artefact hashing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417320"/>
            <a:ext cx="5271516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1F4E7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1676" y="1600200"/>
            <a:ext cx="47228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Investigator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551676" y="2148840"/>
            <a:ext cx="4722876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question, PICO, and eligibility criteria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decision and final analysis-type decision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Adjudication of screening conflicts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of every extracted value against the source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Risk-of-bias and GRADE judgements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interpretation and discussion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at each gate; authorship and disclosure statements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meta-pipe  ·  github.com/htlin222/meta-pipe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63447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current work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5271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5271516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and cost figures derive from one completed project; no controlled comparison with a conventional workflow has been performed.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extraction produced errors that required manual correction; the error rate has not been quantified systematically.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 project used single-pass AI screening, so its screening agreement is unknown.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metadat benchmark validates the analysis code only, not search, screening, or extraction.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AI reviewers share a model family; their agreement is not equivalent to agreement between two human reviewers.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277356" y="1417320"/>
            <a:ext cx="5271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work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277356" y="1874520"/>
            <a:ext cx="5271516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execution with role-specific agents (screening and synthesis stages), with hooks enforcing the same gates; experimental.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the validation suite beyond stage 06.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Prospective comparison of AI-assisted and human dual screening on the same record set.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NMA extensions: component NMA, meta-regression, and statistical transitivity tests are implemented and await validation.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meta-pipe  ·  github.com/htlin222/meta-pipe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063447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Software, requirements, and citation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a new project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20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51560" y="1874520"/>
            <a:ext cx="6035040" cy="50292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34440" y="187452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run tooling/python/init_project.py --name &lt;project&gt;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404872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the numbered directory tree and TOPIC.txt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51560" y="2834640"/>
            <a:ext cx="6035040" cy="50292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34440" y="283464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projects/&lt;project&gt;/TOPIC.txt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64992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population, intervention, comparator, outcomes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840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51560" y="3794760"/>
            <a:ext cx="6035040" cy="50292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234440" y="379476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"Start project &lt;project&gt;"  (in Claude Code)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4325112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feasibility assessment, then stages 01 onward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680960" y="1417320"/>
            <a:ext cx="3886200" cy="4343400"/>
          </a:xfrm>
          <a:prstGeom prst="rect">
            <a:avLst/>
          </a:prstGeom>
          <a:solidFill>
            <a:srgbClr val="EEF2F5"/>
          </a:solidFill>
          <a:ln w="9525">
            <a:solidFill>
              <a:srgbClr val="EEF2F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09560" y="1554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909560" y="196596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≥ 3.12 via uv</a:t>
            </a:r>
            <a:endParaRPr lang="en-US" sz="12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≥ 4.2 with renv</a:t>
            </a:r>
            <a:endParaRPr lang="en-US" sz="12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Quarto</a:t>
            </a:r>
            <a:endParaRPr lang="en-US" sz="12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API keys in .env (PubMed, Scopus; Unpaywall for full text)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909560" y="3611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Licence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909560" y="39319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and non-commercial use.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909560" y="43891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Citation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909560" y="470916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 HT, Yeh JT. meta-pipe: AI-assisted, end-to-end meta-analysis pipeline with reproducible tooling. 2026. https://github.com/htlin222/meta-pipe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983480"/>
            <a:ext cx="6446520" cy="0"/>
          </a:xfrm>
          <a:prstGeom prst="line">
            <a:avLst/>
          </a:prstGeom>
          <a:noFill/>
          <a:ln w="12700">
            <a:solidFill>
              <a:srgbClr val="C8D0D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5120640"/>
            <a:ext cx="6446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project with all intermediate artefacts: projects/ici-breast-cancer/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meta-pipe  ·  github.com/htlin222/meta-pipe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63447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meta-pipe: an AI-assisted, reproducible pipeline for systematic review and meta-analysis</dc:title>
  <dc:subject>PptxGenJS Presentation</dc:subject>
  <dc:creator>Lin HT, Yeh JT</dc:creator>
  <cp:lastModifiedBy>Lin HT, Yeh JT</cp:lastModifiedBy>
  <cp:revision>1</cp:revision>
  <dcterms:created xsi:type="dcterms:W3CDTF">2026-09-03T16:05:01Z</dcterms:created>
  <dcterms:modified xsi:type="dcterms:W3CDTF">2026-09-03T16:05:01Z</dcterms:modified>
</cp:coreProperties>
</file>